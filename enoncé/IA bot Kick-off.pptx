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IBM Plex Sans" charset="1" panose="020B0503050203000203"/>
      <p:regular r:id="rId26"/>
    </p:embeddedFont>
    <p:embeddedFont>
      <p:font typeface="Canva Sans" charset="1" panose="020B0503030501040103"/>
      <p:regular r:id="rId27"/>
    </p:embeddedFont>
    <p:embeddedFont>
      <p:font typeface="Anton" charset="1" panose="00000500000000000000"/>
      <p:regular r:id="rId28"/>
    </p:embeddedFont>
    <p:embeddedFont>
      <p:font typeface="IBM Plex Sans Bold" charset="1" panose="020B08030502030002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572876" y="581716"/>
            <a:ext cx="3438414" cy="830925"/>
            <a:chOff x="0" y="0"/>
            <a:chExt cx="4584552" cy="1107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4573" cy="1107948"/>
            </a:xfrm>
            <a:custGeom>
              <a:avLst/>
              <a:gdLst/>
              <a:ahLst/>
              <a:cxnLst/>
              <a:rect r="r" b="b" t="t" l="l"/>
              <a:pathLst>
                <a:path h="1107948" w="4584573">
                  <a:moveTo>
                    <a:pt x="0" y="0"/>
                  </a:moveTo>
                  <a:lnTo>
                    <a:pt x="4584573" y="0"/>
                  </a:lnTo>
                  <a:lnTo>
                    <a:pt x="4584573" y="1107948"/>
                  </a:lnTo>
                  <a:lnTo>
                    <a:pt x="0" y="1107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" r="0" b="-3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0446588" y="2613804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3060392" y="0"/>
            <a:ext cx="5227608" cy="2613804"/>
            <a:chOff x="0" y="0"/>
            <a:chExt cx="6970144" cy="3485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70141" cy="3485134"/>
            </a:xfrm>
            <a:custGeom>
              <a:avLst/>
              <a:gdLst/>
              <a:ahLst/>
              <a:cxnLst/>
              <a:rect r="r" b="b" t="t" l="l"/>
              <a:pathLst>
                <a:path h="3485134" w="6970141">
                  <a:moveTo>
                    <a:pt x="0" y="0"/>
                  </a:moveTo>
                  <a:lnTo>
                    <a:pt x="6970141" y="0"/>
                  </a:lnTo>
                  <a:lnTo>
                    <a:pt x="6970141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4314" y="8187843"/>
            <a:ext cx="16997409" cy="58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 MSc MSI promotion 2028 /&gt;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53856" y="4373342"/>
            <a:ext cx="17180289" cy="3239719"/>
            <a:chOff x="0" y="0"/>
            <a:chExt cx="22907052" cy="43196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907051" cy="4319625"/>
            </a:xfrm>
            <a:custGeom>
              <a:avLst/>
              <a:gdLst/>
              <a:ahLst/>
              <a:cxnLst/>
              <a:rect r="r" b="b" t="t" l="l"/>
              <a:pathLst>
                <a:path h="4319625" w="22907051">
                  <a:moveTo>
                    <a:pt x="0" y="0"/>
                  </a:moveTo>
                  <a:lnTo>
                    <a:pt x="22907051" y="0"/>
                  </a:lnTo>
                  <a:lnTo>
                    <a:pt x="22907051" y="4319625"/>
                  </a:lnTo>
                  <a:lnTo>
                    <a:pt x="0" y="4319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2400"/>
              <a:ext cx="22907052" cy="41672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4256"/>
                </a:lnSpc>
              </a:pPr>
              <a:r>
                <a:rPr lang="en-US" sz="132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Kick-Off IA Bot</a:t>
              </a:r>
              <a:r>
                <a:rPr lang="en-US" sz="13200">
                  <a:solidFill>
                    <a:srgbClr val="FF5F3A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4314" y="8821229"/>
            <a:ext cx="16997409" cy="58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 08/01/26 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11547" cy="3313972"/>
            <a:chOff x="0" y="0"/>
            <a:chExt cx="2415396" cy="44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413" cy="4418584"/>
            </a:xfrm>
            <a:custGeom>
              <a:avLst/>
              <a:gdLst/>
              <a:ahLst/>
              <a:cxnLst/>
              <a:rect r="r" b="b" t="t" l="l"/>
              <a:pathLst>
                <a:path h="4418584" w="2415413">
                  <a:moveTo>
                    <a:pt x="0" y="0"/>
                  </a:moveTo>
                  <a:lnTo>
                    <a:pt x="2415413" y="0"/>
                  </a:lnTo>
                  <a:lnTo>
                    <a:pt x="2415413" y="4418584"/>
                  </a:lnTo>
                  <a:lnTo>
                    <a:pt x="0" y="441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49" t="-9409" r="0" b="-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5674196" y="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70339" y="547688"/>
            <a:ext cx="13483087" cy="1988345"/>
            <a:chOff x="0" y="0"/>
            <a:chExt cx="17977450" cy="2651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77450" cy="2651126"/>
            </a:xfrm>
            <a:custGeom>
              <a:avLst/>
              <a:gdLst/>
              <a:ahLst/>
              <a:cxnLst/>
              <a:rect r="r" b="b" t="t" l="l"/>
              <a:pathLst>
                <a:path h="2651126" w="17977450">
                  <a:moveTo>
                    <a:pt x="0" y="0"/>
                  </a:moveTo>
                  <a:lnTo>
                    <a:pt x="17977450" y="0"/>
                  </a:lnTo>
                  <a:lnTo>
                    <a:pt x="1797745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42875"/>
              <a:ext cx="17977450" cy="25082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32"/>
                </a:lnSpc>
              </a:pPr>
              <a:r>
                <a:rPr lang="en-US" sz="129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SOMMAIRE</a:t>
              </a:r>
              <a:r>
                <a:rPr lang="en-US" sz="129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70339" y="3264332"/>
            <a:ext cx="13483087" cy="293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6"/>
              </a:lnSpc>
            </a:pPr>
            <a:r>
              <a:rPr lang="en-US" sz="42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&lt;01_ Projet /&gt;</a:t>
            </a:r>
          </a:p>
          <a:p>
            <a:pPr algn="l">
              <a:lnSpc>
                <a:spcPts val="5896"/>
              </a:lnSpc>
            </a:pPr>
            <a:r>
              <a:rPr lang="en-US" sz="42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&lt;02_ Attendus technique /&gt;</a:t>
            </a:r>
          </a:p>
          <a:p>
            <a:pPr algn="l">
              <a:lnSpc>
                <a:spcPts val="5896"/>
              </a:lnSpc>
            </a:pPr>
            <a:r>
              <a:rPr lang="en-US" sz="42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&lt;03_ Documentation /&gt;</a:t>
            </a:r>
          </a:p>
          <a:p>
            <a:pPr algn="l">
              <a:lnSpc>
                <a:spcPts val="5896"/>
              </a:lnSpc>
            </a:pPr>
            <a:r>
              <a:rPr lang="en-US" sz="42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&lt;04_ Rendus /&gt;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3AFB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1306902" y="1306902"/>
            <a:ext cx="5227608" cy="2613804"/>
            <a:chOff x="0" y="0"/>
            <a:chExt cx="6970144" cy="3485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70141" cy="3485134"/>
            </a:xfrm>
            <a:custGeom>
              <a:avLst/>
              <a:gdLst/>
              <a:ahLst/>
              <a:cxnLst/>
              <a:rect r="r" b="b" t="t" l="l"/>
              <a:pathLst>
                <a:path h="3485134" w="6970141">
                  <a:moveTo>
                    <a:pt x="0" y="0"/>
                  </a:moveTo>
                  <a:lnTo>
                    <a:pt x="6970141" y="0"/>
                  </a:lnTo>
                  <a:lnTo>
                    <a:pt x="6970141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2613806" y="522761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5400000">
            <a:off x="14374155" y="5727124"/>
            <a:ext cx="3548923" cy="3545392"/>
            <a:chOff x="0" y="0"/>
            <a:chExt cx="4731898" cy="47271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31893" cy="4727194"/>
            </a:xfrm>
            <a:custGeom>
              <a:avLst/>
              <a:gdLst/>
              <a:ahLst/>
              <a:cxnLst/>
              <a:rect r="r" b="b" t="t" l="l"/>
              <a:pathLst>
                <a:path h="4727194" w="4731893">
                  <a:moveTo>
                    <a:pt x="0" y="0"/>
                  </a:moveTo>
                  <a:lnTo>
                    <a:pt x="4731893" y="0"/>
                  </a:lnTo>
                  <a:lnTo>
                    <a:pt x="4731893" y="4727194"/>
                  </a:lnTo>
                  <a:lnTo>
                    <a:pt x="0" y="472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118448" y="547686"/>
            <a:ext cx="14011961" cy="3698766"/>
            <a:chOff x="0" y="0"/>
            <a:chExt cx="18682614" cy="49316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82615" cy="4931688"/>
            </a:xfrm>
            <a:custGeom>
              <a:avLst/>
              <a:gdLst/>
              <a:ahLst/>
              <a:cxnLst/>
              <a:rect r="r" b="b" t="t" l="l"/>
              <a:pathLst>
                <a:path h="4931688" w="18682615">
                  <a:moveTo>
                    <a:pt x="0" y="0"/>
                  </a:moveTo>
                  <a:lnTo>
                    <a:pt x="18682615" y="0"/>
                  </a:lnTo>
                  <a:lnTo>
                    <a:pt x="18682615" y="4931688"/>
                  </a:lnTo>
                  <a:lnTo>
                    <a:pt x="0" y="4931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14300"/>
              <a:ext cx="18682614" cy="4817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476"/>
                </a:lnSpc>
              </a:pPr>
              <a:r>
                <a:rPr lang="en-US" sz="97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IA BOT - Agent conversationnel Intelligent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50592" y="805338"/>
            <a:ext cx="1912620" cy="181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32"/>
              </a:lnSpc>
            </a:pPr>
            <a:r>
              <a:rPr lang="en-US" sz="12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11547" cy="3313972"/>
            <a:chOff x="0" y="0"/>
            <a:chExt cx="2415396" cy="44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413" cy="4418584"/>
            </a:xfrm>
            <a:custGeom>
              <a:avLst/>
              <a:gdLst/>
              <a:ahLst/>
              <a:cxnLst/>
              <a:rect r="r" b="b" t="t" l="l"/>
              <a:pathLst>
                <a:path h="4418584" w="2415413">
                  <a:moveTo>
                    <a:pt x="0" y="0"/>
                  </a:moveTo>
                  <a:lnTo>
                    <a:pt x="2415413" y="0"/>
                  </a:lnTo>
                  <a:lnTo>
                    <a:pt x="2415413" y="4418584"/>
                  </a:lnTo>
                  <a:lnTo>
                    <a:pt x="0" y="441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49" t="-9409" r="0" b="-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5674196" y="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01328" y="5973"/>
            <a:ext cx="13483087" cy="3239719"/>
            <a:chOff x="0" y="0"/>
            <a:chExt cx="17977450" cy="43196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77450" cy="4319625"/>
            </a:xfrm>
            <a:custGeom>
              <a:avLst/>
              <a:gdLst/>
              <a:ahLst/>
              <a:cxnLst/>
              <a:rect r="r" b="b" t="t" l="l"/>
              <a:pathLst>
                <a:path h="4319625" w="17977450">
                  <a:moveTo>
                    <a:pt x="0" y="0"/>
                  </a:moveTo>
                  <a:lnTo>
                    <a:pt x="17977450" y="0"/>
                  </a:lnTo>
                  <a:lnTo>
                    <a:pt x="17977450" y="4319625"/>
                  </a:lnTo>
                  <a:lnTo>
                    <a:pt x="0" y="4319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7977450" cy="416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56"/>
                </a:lnSpc>
              </a:pPr>
              <a:r>
                <a:rPr lang="en-US" sz="132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Le projet</a:t>
              </a:r>
              <a:r>
                <a:rPr lang="en-US" sz="132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7489067" y="4324780"/>
            <a:ext cx="2366128" cy="952920"/>
          </a:xfrm>
          <a:prstGeom prst="line">
            <a:avLst/>
          </a:prstGeom>
          <a:ln cap="rnd" w="19050">
            <a:solidFill>
              <a:srgbClr val="15608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044566" y="3574462"/>
            <a:ext cx="5444501" cy="3406476"/>
            <a:chOff x="0" y="0"/>
            <a:chExt cx="7259334" cy="454196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7259334" cy="4541968"/>
              <a:chOff x="0" y="0"/>
              <a:chExt cx="7639078" cy="477956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639050" cy="4779592"/>
              </a:xfrm>
              <a:custGeom>
                <a:avLst/>
                <a:gdLst/>
                <a:ahLst/>
                <a:cxnLst/>
                <a:rect r="r" b="b" t="t" l="l"/>
                <a:pathLst>
                  <a:path h="4779592" w="7639050">
                    <a:moveTo>
                      <a:pt x="0" y="0"/>
                    </a:moveTo>
                    <a:lnTo>
                      <a:pt x="7639050" y="0"/>
                    </a:lnTo>
                    <a:lnTo>
                      <a:pt x="7639050" y="4779592"/>
                    </a:lnTo>
                    <a:lnTo>
                      <a:pt x="0" y="4779592"/>
                    </a:lnTo>
                    <a:close/>
                  </a:path>
                </a:pathLst>
              </a:custGeom>
              <a:solidFill>
                <a:srgbClr val="013AFB">
                  <a:alpha val="24706"/>
                </a:srgbClr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1418360" y="513850"/>
              <a:ext cx="5242560" cy="365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Conception d’un agent conversationnel intelligent intégré à une application w</a:t>
              </a:r>
              <a:r>
                <a:rPr lang="en-US" sz="23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eb, capable de comprendre des requêtes en langage naturel et de décider d’exécuter ou non des actions automatisées.</a:t>
              </a:r>
            </a:p>
          </p:txBody>
        </p:sp>
        <p:grpSp>
          <p:nvGrpSpPr>
            <p:cNvPr name="Group 14" id="14"/>
            <p:cNvGrpSpPr>
              <a:grpSpLocks noChangeAspect="true"/>
            </p:cNvGrpSpPr>
            <p:nvPr/>
          </p:nvGrpSpPr>
          <p:grpSpPr>
            <a:xfrm rot="0">
              <a:off x="321113" y="382164"/>
              <a:ext cx="865998" cy="1461398"/>
              <a:chOff x="0" y="0"/>
              <a:chExt cx="865998" cy="146139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66013" cy="1461389"/>
              </a:xfrm>
              <a:custGeom>
                <a:avLst/>
                <a:gdLst/>
                <a:ahLst/>
                <a:cxnLst/>
                <a:rect r="r" b="b" t="t" l="l"/>
                <a:pathLst>
                  <a:path h="1461389" w="866013">
                    <a:moveTo>
                      <a:pt x="0" y="0"/>
                    </a:moveTo>
                    <a:lnTo>
                      <a:pt x="866013" y="0"/>
                    </a:lnTo>
                    <a:lnTo>
                      <a:pt x="866013" y="1461389"/>
                    </a:lnTo>
                    <a:lnTo>
                      <a:pt x="0" y="146138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1" b="-222"/>
                </a:stretch>
              </a:blipFill>
            </p:spPr>
          </p:sp>
        </p:grpSp>
      </p:grpSp>
      <p:grpSp>
        <p:nvGrpSpPr>
          <p:cNvPr name="Group 16" id="16"/>
          <p:cNvGrpSpPr/>
          <p:nvPr/>
        </p:nvGrpSpPr>
        <p:grpSpPr>
          <a:xfrm rot="0">
            <a:off x="9855195" y="2060164"/>
            <a:ext cx="5133748" cy="3206190"/>
            <a:chOff x="0" y="0"/>
            <a:chExt cx="6844997" cy="427492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844997" cy="4274920"/>
              <a:chOff x="0" y="0"/>
              <a:chExt cx="5266488" cy="328909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266436" cy="3288991"/>
              </a:xfrm>
              <a:custGeom>
                <a:avLst/>
                <a:gdLst/>
                <a:ahLst/>
                <a:cxnLst/>
                <a:rect r="r" b="b" t="t" l="l"/>
                <a:pathLst>
                  <a:path h="3288991" w="5266436">
                    <a:moveTo>
                      <a:pt x="0" y="0"/>
                    </a:moveTo>
                    <a:lnTo>
                      <a:pt x="5266436" y="0"/>
                    </a:lnTo>
                    <a:lnTo>
                      <a:pt x="5266436" y="3288991"/>
                    </a:lnTo>
                    <a:lnTo>
                      <a:pt x="0" y="3288991"/>
                    </a:lnTo>
                    <a:close/>
                  </a:path>
                </a:pathLst>
              </a:custGeom>
              <a:solidFill>
                <a:srgbClr val="013AFB">
                  <a:alpha val="24706"/>
                </a:srgbClr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342900" y="285364"/>
              <a:ext cx="4739224" cy="365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Architecture modulaire agentique reposant sur un frontend web, un backend IA local jouant le rôle d’orchestrateur, et un serveur MCP simulant des outils externes (dont du scrapping de données).</a:t>
              </a:r>
            </a:p>
          </p:txBody>
        </p:sp>
        <p:grpSp>
          <p:nvGrpSpPr>
            <p:cNvPr name="Group 20" id="20"/>
            <p:cNvGrpSpPr>
              <a:grpSpLocks noChangeAspect="true"/>
            </p:cNvGrpSpPr>
            <p:nvPr/>
          </p:nvGrpSpPr>
          <p:grpSpPr>
            <a:xfrm rot="0">
              <a:off x="5516957" y="285364"/>
              <a:ext cx="1017752" cy="1461398"/>
              <a:chOff x="0" y="0"/>
              <a:chExt cx="1017752" cy="146139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17778" cy="1461389"/>
              </a:xfrm>
              <a:custGeom>
                <a:avLst/>
                <a:gdLst/>
                <a:ahLst/>
                <a:cxnLst/>
                <a:rect r="r" b="b" t="t" l="l"/>
                <a:pathLst>
                  <a:path h="1461389" w="1017778">
                    <a:moveTo>
                      <a:pt x="0" y="0"/>
                    </a:moveTo>
                    <a:lnTo>
                      <a:pt x="1017778" y="0"/>
                    </a:lnTo>
                    <a:lnTo>
                      <a:pt x="1017778" y="1461389"/>
                    </a:lnTo>
                    <a:lnTo>
                      <a:pt x="0" y="146138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-283" b="0"/>
                </a:stretch>
              </a:blipFill>
            </p:spPr>
          </p:sp>
        </p:grpSp>
      </p:grp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878275" y="7295264"/>
            <a:ext cx="8126472" cy="2113849"/>
            <a:chOff x="0" y="0"/>
            <a:chExt cx="8336593" cy="21685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36511" cy="2168440"/>
            </a:xfrm>
            <a:custGeom>
              <a:avLst/>
              <a:gdLst/>
              <a:ahLst/>
              <a:cxnLst/>
              <a:rect r="r" b="b" t="t" l="l"/>
              <a:pathLst>
                <a:path h="2168440" w="8336511">
                  <a:moveTo>
                    <a:pt x="0" y="0"/>
                  </a:moveTo>
                  <a:lnTo>
                    <a:pt x="8336511" y="0"/>
                  </a:lnTo>
                  <a:lnTo>
                    <a:pt x="8336511" y="2168440"/>
                  </a:lnTo>
                  <a:lnTo>
                    <a:pt x="0" y="2168440"/>
                  </a:lnTo>
                  <a:close/>
                </a:path>
              </a:pathLst>
            </a:custGeom>
            <a:solidFill>
              <a:srgbClr val="013AFB">
                <a:alpha val="24706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055014" y="7509287"/>
            <a:ext cx="6627579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Mise en œuvre avec des technologies open-source locales, sans services tiers payants, en mettant l’accent sur la compréhension des flux, la séparation des responsabilités et la démonstration d’un prototype fonctionnel.</a:t>
            </a:r>
          </a:p>
        </p:txBody>
      </p: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2008717" y="7509287"/>
            <a:ext cx="763314" cy="1096048"/>
            <a:chOff x="0" y="0"/>
            <a:chExt cx="1017752" cy="146139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7778" cy="1461389"/>
            </a:xfrm>
            <a:custGeom>
              <a:avLst/>
              <a:gdLst/>
              <a:ahLst/>
              <a:cxnLst/>
              <a:rect r="r" b="b" t="t" l="l"/>
              <a:pathLst>
                <a:path h="1461389" w="1017778">
                  <a:moveTo>
                    <a:pt x="0" y="0"/>
                  </a:moveTo>
                  <a:lnTo>
                    <a:pt x="1017778" y="0"/>
                  </a:lnTo>
                  <a:lnTo>
                    <a:pt x="1017778" y="1461389"/>
                  </a:lnTo>
                  <a:lnTo>
                    <a:pt x="0" y="146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83" b="0"/>
              </a:stretch>
            </a:blipFill>
          </p:spPr>
        </p:sp>
      </p:grpSp>
      <p:sp>
        <p:nvSpPr>
          <p:cNvPr name="AutoShape 28" id="28"/>
          <p:cNvSpPr/>
          <p:nvPr/>
        </p:nvSpPr>
        <p:spPr>
          <a:xfrm flipH="true" flipV="true">
            <a:off x="12422069" y="5660617"/>
            <a:ext cx="582678" cy="2691571"/>
          </a:xfrm>
          <a:prstGeom prst="line">
            <a:avLst/>
          </a:prstGeom>
          <a:ln cap="rnd" w="19050">
            <a:solidFill>
              <a:srgbClr val="15608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11547" cy="3313972"/>
            <a:chOff x="0" y="0"/>
            <a:chExt cx="2415396" cy="44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413" cy="4418584"/>
            </a:xfrm>
            <a:custGeom>
              <a:avLst/>
              <a:gdLst/>
              <a:ahLst/>
              <a:cxnLst/>
              <a:rect r="r" b="b" t="t" l="l"/>
              <a:pathLst>
                <a:path h="4418584" w="2415413">
                  <a:moveTo>
                    <a:pt x="0" y="0"/>
                  </a:moveTo>
                  <a:lnTo>
                    <a:pt x="2415413" y="0"/>
                  </a:lnTo>
                  <a:lnTo>
                    <a:pt x="2415413" y="4418584"/>
                  </a:lnTo>
                  <a:lnTo>
                    <a:pt x="0" y="441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49" t="-9409" r="0" b="-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5674196" y="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01328" y="0"/>
            <a:ext cx="13483087" cy="3239719"/>
            <a:chOff x="0" y="0"/>
            <a:chExt cx="17977450" cy="43196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77450" cy="4319625"/>
            </a:xfrm>
            <a:custGeom>
              <a:avLst/>
              <a:gdLst/>
              <a:ahLst/>
              <a:cxnLst/>
              <a:rect r="r" b="b" t="t" l="l"/>
              <a:pathLst>
                <a:path h="4319625" w="17977450">
                  <a:moveTo>
                    <a:pt x="0" y="0"/>
                  </a:moveTo>
                  <a:lnTo>
                    <a:pt x="17977450" y="0"/>
                  </a:lnTo>
                  <a:lnTo>
                    <a:pt x="17977450" y="4319625"/>
                  </a:lnTo>
                  <a:lnTo>
                    <a:pt x="0" y="4319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7977450" cy="416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56"/>
                </a:lnSpc>
              </a:pPr>
              <a:r>
                <a:rPr lang="en-US" sz="132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Déroulement</a:t>
              </a:r>
              <a:r>
                <a:rPr lang="en-US" sz="132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866564" y="4668865"/>
            <a:ext cx="2856771" cy="3641303"/>
            <a:chOff x="0" y="0"/>
            <a:chExt cx="3809028" cy="485507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513850"/>
              <a:ext cx="3809028" cy="3795120"/>
              <a:chOff x="0" y="0"/>
              <a:chExt cx="3809028" cy="379512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808984" cy="3795141"/>
              </a:xfrm>
              <a:custGeom>
                <a:avLst/>
                <a:gdLst/>
                <a:ahLst/>
                <a:cxnLst/>
                <a:rect r="r" b="b" t="t" l="l"/>
                <a:pathLst>
                  <a:path h="3795141" w="3808984">
                    <a:moveTo>
                      <a:pt x="0" y="0"/>
                    </a:moveTo>
                    <a:lnTo>
                      <a:pt x="3808984" y="0"/>
                    </a:lnTo>
                    <a:lnTo>
                      <a:pt x="3808984" y="3795141"/>
                    </a:lnTo>
                    <a:lnTo>
                      <a:pt x="0" y="3795141"/>
                    </a:lnTo>
                    <a:close/>
                  </a:path>
                </a:pathLst>
              </a:custGeom>
              <a:solidFill>
                <a:srgbClr val="013AFB">
                  <a:alpha val="24706"/>
                </a:srgbClr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87019" y="0"/>
              <a:ext cx="3034990" cy="1027700"/>
              <a:chOff x="0" y="0"/>
              <a:chExt cx="3034990" cy="10277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035046" cy="1027684"/>
              </a:xfrm>
              <a:custGeom>
                <a:avLst/>
                <a:gdLst/>
                <a:ahLst/>
                <a:cxnLst/>
                <a:rect r="r" b="b" t="t" l="l"/>
                <a:pathLst>
                  <a:path h="1027684" w="3035046">
                    <a:moveTo>
                      <a:pt x="0" y="0"/>
                    </a:moveTo>
                    <a:lnTo>
                      <a:pt x="3035046" y="0"/>
                    </a:lnTo>
                    <a:lnTo>
                      <a:pt x="3035046" y="1027684"/>
                    </a:lnTo>
                    <a:lnTo>
                      <a:pt x="0" y="1027684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508919" y="192050"/>
              <a:ext cx="279119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Durée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308970"/>
              <a:ext cx="3809028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Sept Jours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653610"/>
              <a:ext cx="3809028" cy="173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320"/>
                </a:lnSpc>
                <a:spcBef>
                  <a:spcPct val="0"/>
                </a:spcBef>
              </a:pPr>
              <a:r>
                <a:rPr lang="en-US" sz="86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7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944620" y="4812902"/>
            <a:ext cx="209339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Outils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64664" y="5054252"/>
            <a:ext cx="2856771" cy="2846340"/>
            <a:chOff x="0" y="0"/>
            <a:chExt cx="3809028" cy="3795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08984" cy="3795141"/>
            </a:xfrm>
            <a:custGeom>
              <a:avLst/>
              <a:gdLst/>
              <a:ahLst/>
              <a:cxnLst/>
              <a:rect r="r" b="b" t="t" l="l"/>
              <a:pathLst>
                <a:path h="3795141" w="3808984">
                  <a:moveTo>
                    <a:pt x="0" y="0"/>
                  </a:moveTo>
                  <a:lnTo>
                    <a:pt x="3808984" y="0"/>
                  </a:lnTo>
                  <a:lnTo>
                    <a:pt x="3808984" y="3795141"/>
                  </a:lnTo>
                  <a:lnTo>
                    <a:pt x="0" y="3795141"/>
                  </a:lnTo>
                  <a:close/>
                </a:path>
              </a:pathLst>
            </a:custGeom>
            <a:solidFill>
              <a:srgbClr val="013AFB">
                <a:alpha val="24706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53195" y="4668865"/>
            <a:ext cx="2276242" cy="770775"/>
            <a:chOff x="0" y="0"/>
            <a:chExt cx="3034990" cy="1027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35046" cy="1027684"/>
            </a:xfrm>
            <a:custGeom>
              <a:avLst/>
              <a:gdLst/>
              <a:ahLst/>
              <a:cxnLst/>
              <a:rect r="r" b="b" t="t" l="l"/>
              <a:pathLst>
                <a:path h="1027684" w="3035046">
                  <a:moveTo>
                    <a:pt x="0" y="0"/>
                  </a:moveTo>
                  <a:lnTo>
                    <a:pt x="3035046" y="0"/>
                  </a:lnTo>
                  <a:lnTo>
                    <a:pt x="3035046" y="1027684"/>
                  </a:lnTo>
                  <a:lnTo>
                    <a:pt x="0" y="1027684"/>
                  </a:lnTo>
                  <a:close/>
                </a:path>
              </a:pathLst>
            </a:custGeom>
            <a:solidFill>
              <a:srgbClr val="013AF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262764" y="4668865"/>
            <a:ext cx="2856771" cy="4050878"/>
            <a:chOff x="0" y="0"/>
            <a:chExt cx="3809028" cy="540117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513850"/>
              <a:ext cx="3809028" cy="3795120"/>
              <a:chOff x="0" y="0"/>
              <a:chExt cx="3809028" cy="379512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808984" cy="3795141"/>
              </a:xfrm>
              <a:custGeom>
                <a:avLst/>
                <a:gdLst/>
                <a:ahLst/>
                <a:cxnLst/>
                <a:rect r="r" b="b" t="t" l="l"/>
                <a:pathLst>
                  <a:path h="3795141" w="3808984">
                    <a:moveTo>
                      <a:pt x="0" y="0"/>
                    </a:moveTo>
                    <a:lnTo>
                      <a:pt x="3808984" y="0"/>
                    </a:lnTo>
                    <a:lnTo>
                      <a:pt x="3808984" y="3795141"/>
                    </a:lnTo>
                    <a:lnTo>
                      <a:pt x="0" y="3795141"/>
                    </a:lnTo>
                    <a:close/>
                  </a:path>
                </a:pathLst>
              </a:custGeom>
              <a:solidFill>
                <a:srgbClr val="013AFB">
                  <a:alpha val="24706"/>
                </a:srgbClr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387019" y="0"/>
              <a:ext cx="3034990" cy="1027700"/>
              <a:chOff x="0" y="0"/>
              <a:chExt cx="3034990" cy="10277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035046" cy="1027684"/>
              </a:xfrm>
              <a:custGeom>
                <a:avLst/>
                <a:gdLst/>
                <a:ahLst/>
                <a:cxnLst/>
                <a:rect r="r" b="b" t="t" l="l"/>
                <a:pathLst>
                  <a:path h="1027684" w="3035046">
                    <a:moveTo>
                      <a:pt x="0" y="0"/>
                    </a:moveTo>
                    <a:lnTo>
                      <a:pt x="3035046" y="0"/>
                    </a:lnTo>
                    <a:lnTo>
                      <a:pt x="3035046" y="1027684"/>
                    </a:lnTo>
                    <a:lnTo>
                      <a:pt x="0" y="1027684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508919" y="192050"/>
              <a:ext cx="279119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Concepts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4308970"/>
              <a:ext cx="3809028" cy="1092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IA, dev Web, Modèles, Tooling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68465" y="5054252"/>
            <a:ext cx="2856771" cy="2846340"/>
            <a:chOff x="0" y="0"/>
            <a:chExt cx="3809028" cy="3795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08984" cy="3795141"/>
            </a:xfrm>
            <a:custGeom>
              <a:avLst/>
              <a:gdLst/>
              <a:ahLst/>
              <a:cxnLst/>
              <a:rect r="r" b="b" t="t" l="l"/>
              <a:pathLst>
                <a:path h="3795141" w="3808984">
                  <a:moveTo>
                    <a:pt x="0" y="0"/>
                  </a:moveTo>
                  <a:lnTo>
                    <a:pt x="3808984" y="0"/>
                  </a:lnTo>
                  <a:lnTo>
                    <a:pt x="3808984" y="3795141"/>
                  </a:lnTo>
                  <a:lnTo>
                    <a:pt x="0" y="3795141"/>
                  </a:lnTo>
                  <a:close/>
                </a:path>
              </a:pathLst>
            </a:custGeom>
            <a:solidFill>
              <a:srgbClr val="013AFB">
                <a:alpha val="24706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458729" y="4668865"/>
            <a:ext cx="2276242" cy="770775"/>
            <a:chOff x="0" y="0"/>
            <a:chExt cx="3034990" cy="1027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35046" cy="1027684"/>
            </a:xfrm>
            <a:custGeom>
              <a:avLst/>
              <a:gdLst/>
              <a:ahLst/>
              <a:cxnLst/>
              <a:rect r="r" b="b" t="t" l="l"/>
              <a:pathLst>
                <a:path h="1027684" w="3035046">
                  <a:moveTo>
                    <a:pt x="0" y="0"/>
                  </a:moveTo>
                  <a:lnTo>
                    <a:pt x="3035046" y="0"/>
                  </a:lnTo>
                  <a:lnTo>
                    <a:pt x="3035046" y="1027684"/>
                  </a:lnTo>
                  <a:lnTo>
                    <a:pt x="0" y="1027684"/>
                  </a:lnTo>
                  <a:close/>
                </a:path>
              </a:pathLst>
            </a:custGeom>
            <a:solidFill>
              <a:srgbClr val="013AFB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2168465" y="7900592"/>
            <a:ext cx="2856771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4-5 personnes</a:t>
            </a:r>
          </a:p>
          <a:p>
            <a:pPr algn="ctr">
              <a:lnSpc>
                <a:spcPts val="2700"/>
              </a:lnSpc>
              <a:spcBef>
                <a:spcPct val="0"/>
              </a:spcBef>
            </a:pP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3809235" y="5766208"/>
            <a:ext cx="1763830" cy="1590654"/>
          </a:xfrm>
          <a:custGeom>
            <a:avLst/>
            <a:gdLst/>
            <a:ahLst/>
            <a:cxnLst/>
            <a:rect r="r" b="b" t="t" l="l"/>
            <a:pathLst>
              <a:path h="1590654" w="1763830">
                <a:moveTo>
                  <a:pt x="0" y="0"/>
                </a:moveTo>
                <a:lnTo>
                  <a:pt x="1763830" y="0"/>
                </a:lnTo>
                <a:lnTo>
                  <a:pt x="1763830" y="1590654"/>
                </a:lnTo>
                <a:lnTo>
                  <a:pt x="0" y="1590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2481597" y="5705086"/>
            <a:ext cx="733952" cy="1481850"/>
            <a:chOff x="0" y="0"/>
            <a:chExt cx="865998" cy="17484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66013" cy="1748409"/>
            </a:xfrm>
            <a:custGeom>
              <a:avLst/>
              <a:gdLst/>
              <a:ahLst/>
              <a:cxnLst/>
              <a:rect r="r" b="b" t="t" l="l"/>
              <a:pathLst>
                <a:path h="1748409" w="866013">
                  <a:moveTo>
                    <a:pt x="0" y="0"/>
                  </a:moveTo>
                  <a:lnTo>
                    <a:pt x="866013" y="0"/>
                  </a:lnTo>
                  <a:lnTo>
                    <a:pt x="866013" y="1748409"/>
                  </a:lnTo>
                  <a:lnTo>
                    <a:pt x="0" y="1748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90"/>
              </a:stretch>
            </a:blipFill>
          </p:spPr>
        </p:sp>
      </p:grp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4081257" y="5705086"/>
            <a:ext cx="594683" cy="1431736"/>
            <a:chOff x="0" y="0"/>
            <a:chExt cx="704550" cy="16962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4596" cy="1696212"/>
            </a:xfrm>
            <a:custGeom>
              <a:avLst/>
              <a:gdLst/>
              <a:ahLst/>
              <a:cxnLst/>
              <a:rect r="r" b="b" t="t" l="l"/>
              <a:pathLst>
                <a:path h="1696212" w="704596">
                  <a:moveTo>
                    <a:pt x="0" y="0"/>
                  </a:moveTo>
                  <a:lnTo>
                    <a:pt x="704596" y="0"/>
                  </a:lnTo>
                  <a:lnTo>
                    <a:pt x="704596" y="1696212"/>
                  </a:lnTo>
                  <a:lnTo>
                    <a:pt x="0" y="1696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-580"/>
              </a:stretch>
            </a:blipFill>
          </p:spPr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10666850" y="6687782"/>
            <a:ext cx="2079093" cy="1169490"/>
            <a:chOff x="0" y="0"/>
            <a:chExt cx="5486400" cy="3086100"/>
          </a:xfrm>
        </p:grpSpPr>
        <p:sp>
          <p:nvSpPr>
            <p:cNvPr name="Freeform 40" id="40" descr="Comment puis-je apprendre le langage de programmation Python ? - Renerpath"/>
            <p:cNvSpPr/>
            <p:nvPr/>
          </p:nvSpPr>
          <p:spPr>
            <a:xfrm flipH="false" flipV="false" rot="0">
              <a:off x="0" y="0"/>
              <a:ext cx="5486400" cy="3086100"/>
            </a:xfrm>
            <a:custGeom>
              <a:avLst/>
              <a:gdLst/>
              <a:ahLst/>
              <a:cxnLst/>
              <a:rect r="r" b="b" t="t" l="l"/>
              <a:pathLst>
                <a:path h="30861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086100"/>
                  </a:lnTo>
                  <a:lnTo>
                    <a:pt x="0" y="308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3264146" y="5541959"/>
            <a:ext cx="730195" cy="1757990"/>
            <a:chOff x="0" y="0"/>
            <a:chExt cx="704550" cy="16962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4596" cy="1696212"/>
            </a:xfrm>
            <a:custGeom>
              <a:avLst/>
              <a:gdLst/>
              <a:ahLst/>
              <a:cxnLst/>
              <a:rect r="r" b="b" t="t" l="l"/>
              <a:pathLst>
                <a:path h="1696212" w="704596">
                  <a:moveTo>
                    <a:pt x="0" y="0"/>
                  </a:moveTo>
                  <a:lnTo>
                    <a:pt x="704596" y="0"/>
                  </a:lnTo>
                  <a:lnTo>
                    <a:pt x="704596" y="1696212"/>
                  </a:lnTo>
                  <a:lnTo>
                    <a:pt x="0" y="1696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-580"/>
              </a:stretch>
            </a:blipFill>
          </p:spPr>
        </p:sp>
      </p:grpSp>
      <p:grpSp>
        <p:nvGrpSpPr>
          <p:cNvPr name="Group 43" id="43"/>
          <p:cNvGrpSpPr>
            <a:grpSpLocks noChangeAspect="true"/>
          </p:cNvGrpSpPr>
          <p:nvPr/>
        </p:nvGrpSpPr>
        <p:grpSpPr>
          <a:xfrm rot="0">
            <a:off x="2848573" y="6468340"/>
            <a:ext cx="733952" cy="1481850"/>
            <a:chOff x="0" y="0"/>
            <a:chExt cx="865998" cy="17484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66013" cy="1748409"/>
            </a:xfrm>
            <a:custGeom>
              <a:avLst/>
              <a:gdLst/>
              <a:ahLst/>
              <a:cxnLst/>
              <a:rect r="r" b="b" t="t" l="l"/>
              <a:pathLst>
                <a:path h="1748409" w="866013">
                  <a:moveTo>
                    <a:pt x="0" y="0"/>
                  </a:moveTo>
                  <a:lnTo>
                    <a:pt x="866013" y="0"/>
                  </a:lnTo>
                  <a:lnTo>
                    <a:pt x="866013" y="1748409"/>
                  </a:lnTo>
                  <a:lnTo>
                    <a:pt x="0" y="1748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90"/>
              </a:stretch>
            </a:blipFill>
          </p:spPr>
        </p:sp>
      </p:grpSp>
      <p:grpSp>
        <p:nvGrpSpPr>
          <p:cNvPr name="Group 45" id="45"/>
          <p:cNvGrpSpPr>
            <a:grpSpLocks noChangeAspect="true"/>
          </p:cNvGrpSpPr>
          <p:nvPr/>
        </p:nvGrpSpPr>
        <p:grpSpPr>
          <a:xfrm rot="0">
            <a:off x="3598729" y="6142602"/>
            <a:ext cx="730195" cy="1757990"/>
            <a:chOff x="0" y="0"/>
            <a:chExt cx="704550" cy="16962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4596" cy="1696212"/>
            </a:xfrm>
            <a:custGeom>
              <a:avLst/>
              <a:gdLst/>
              <a:ahLst/>
              <a:cxnLst/>
              <a:rect r="r" b="b" t="t" l="l"/>
              <a:pathLst>
                <a:path h="1696212" w="704596">
                  <a:moveTo>
                    <a:pt x="0" y="0"/>
                  </a:moveTo>
                  <a:lnTo>
                    <a:pt x="704596" y="0"/>
                  </a:lnTo>
                  <a:lnTo>
                    <a:pt x="704596" y="1696212"/>
                  </a:lnTo>
                  <a:lnTo>
                    <a:pt x="0" y="1696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-580"/>
              </a:stretch>
            </a:blip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9786627" y="5439640"/>
            <a:ext cx="1760444" cy="1760444"/>
          </a:xfrm>
          <a:custGeom>
            <a:avLst/>
            <a:gdLst/>
            <a:ahLst/>
            <a:cxnLst/>
            <a:rect r="r" b="b" t="t" l="l"/>
            <a:pathLst>
              <a:path h="1760444" w="1760444">
                <a:moveTo>
                  <a:pt x="0" y="0"/>
                </a:moveTo>
                <a:lnTo>
                  <a:pt x="1760445" y="0"/>
                </a:lnTo>
                <a:lnTo>
                  <a:pt x="1760445" y="1760444"/>
                </a:lnTo>
                <a:lnTo>
                  <a:pt x="0" y="17604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9564664" y="7900592"/>
            <a:ext cx="285677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Ollama, python, tech web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550154" y="4812902"/>
            <a:ext cx="209339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Groupes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942536" y="4812902"/>
            <a:ext cx="209339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Outils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1306902" y="1306902"/>
            <a:ext cx="5227608" cy="2613804"/>
            <a:chOff x="0" y="0"/>
            <a:chExt cx="6970144" cy="3485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70141" cy="3485134"/>
            </a:xfrm>
            <a:custGeom>
              <a:avLst/>
              <a:gdLst/>
              <a:ahLst/>
              <a:cxnLst/>
              <a:rect r="r" b="b" t="t" l="l"/>
              <a:pathLst>
                <a:path h="3485134" w="6970141">
                  <a:moveTo>
                    <a:pt x="0" y="0"/>
                  </a:moveTo>
                  <a:lnTo>
                    <a:pt x="6970141" y="0"/>
                  </a:lnTo>
                  <a:lnTo>
                    <a:pt x="6970141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2613806" y="522761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5400000">
            <a:off x="14374155" y="5727124"/>
            <a:ext cx="3548923" cy="3545392"/>
            <a:chOff x="0" y="0"/>
            <a:chExt cx="4731898" cy="47271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31893" cy="4727194"/>
            </a:xfrm>
            <a:custGeom>
              <a:avLst/>
              <a:gdLst/>
              <a:ahLst/>
              <a:cxnLst/>
              <a:rect r="r" b="b" t="t" l="l"/>
              <a:pathLst>
                <a:path h="4727194" w="4731893">
                  <a:moveTo>
                    <a:pt x="0" y="0"/>
                  </a:moveTo>
                  <a:lnTo>
                    <a:pt x="4731893" y="0"/>
                  </a:lnTo>
                  <a:lnTo>
                    <a:pt x="4731893" y="4727194"/>
                  </a:lnTo>
                  <a:lnTo>
                    <a:pt x="0" y="472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13806" y="214951"/>
            <a:ext cx="14011961" cy="3285010"/>
            <a:chOff x="0" y="0"/>
            <a:chExt cx="18682614" cy="43800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82615" cy="4380014"/>
            </a:xfrm>
            <a:custGeom>
              <a:avLst/>
              <a:gdLst/>
              <a:ahLst/>
              <a:cxnLst/>
              <a:rect r="r" b="b" t="t" l="l"/>
              <a:pathLst>
                <a:path h="4380014" w="18682615">
                  <a:moveTo>
                    <a:pt x="0" y="0"/>
                  </a:moveTo>
                  <a:lnTo>
                    <a:pt x="18682615" y="0"/>
                  </a:lnTo>
                  <a:lnTo>
                    <a:pt x="18682615" y="4380014"/>
                  </a:lnTo>
                  <a:lnTo>
                    <a:pt x="0" y="43800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14300"/>
              <a:ext cx="18682614" cy="4265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692"/>
                </a:lnSpc>
              </a:pPr>
              <a:r>
                <a:rPr lang="en-US" sz="99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Attendus techniques</a:t>
              </a:r>
              <a:r>
                <a:rPr lang="en-US" sz="9900">
                  <a:solidFill>
                    <a:srgbClr val="FF1EF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50592" y="805338"/>
            <a:ext cx="1912620" cy="181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32"/>
              </a:lnSpc>
            </a:pPr>
            <a:r>
              <a:rPr lang="en-US" sz="12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11547" cy="3313972"/>
            <a:chOff x="0" y="0"/>
            <a:chExt cx="2415396" cy="44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413" cy="4418584"/>
            </a:xfrm>
            <a:custGeom>
              <a:avLst/>
              <a:gdLst/>
              <a:ahLst/>
              <a:cxnLst/>
              <a:rect r="r" b="b" t="t" l="l"/>
              <a:pathLst>
                <a:path h="4418584" w="2415413">
                  <a:moveTo>
                    <a:pt x="0" y="0"/>
                  </a:moveTo>
                  <a:lnTo>
                    <a:pt x="2415413" y="0"/>
                  </a:lnTo>
                  <a:lnTo>
                    <a:pt x="2415413" y="4418584"/>
                  </a:lnTo>
                  <a:lnTo>
                    <a:pt x="0" y="441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49" t="-9409" r="0" b="-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5674196" y="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01328" y="78904"/>
            <a:ext cx="13483087" cy="3239719"/>
            <a:chOff x="0" y="0"/>
            <a:chExt cx="17977450" cy="43196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77450" cy="4319625"/>
            </a:xfrm>
            <a:custGeom>
              <a:avLst/>
              <a:gdLst/>
              <a:ahLst/>
              <a:cxnLst/>
              <a:rect r="r" b="b" t="t" l="l"/>
              <a:pathLst>
                <a:path h="4319625" w="17977450">
                  <a:moveTo>
                    <a:pt x="0" y="0"/>
                  </a:moveTo>
                  <a:lnTo>
                    <a:pt x="17977450" y="0"/>
                  </a:lnTo>
                  <a:lnTo>
                    <a:pt x="17977450" y="4319625"/>
                  </a:lnTo>
                  <a:lnTo>
                    <a:pt x="0" y="4319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7977450" cy="416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56"/>
                </a:lnSpc>
              </a:pPr>
              <a:r>
                <a:rPr lang="en-US" sz="132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Stack technique</a:t>
              </a:r>
              <a:r>
                <a:rPr lang="en-US" sz="132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469173"/>
            <a:ext cx="15952398" cy="6369556"/>
            <a:chOff x="0" y="0"/>
            <a:chExt cx="21269864" cy="84927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69748" cy="8492645"/>
            </a:xfrm>
            <a:custGeom>
              <a:avLst/>
              <a:gdLst/>
              <a:ahLst/>
              <a:cxnLst/>
              <a:rect r="r" b="b" t="t" l="l"/>
              <a:pathLst>
                <a:path h="8492645" w="21269748">
                  <a:moveTo>
                    <a:pt x="0" y="0"/>
                  </a:moveTo>
                  <a:lnTo>
                    <a:pt x="21269748" y="0"/>
                  </a:lnTo>
                  <a:lnTo>
                    <a:pt x="21269748" y="8492645"/>
                  </a:lnTo>
                  <a:lnTo>
                    <a:pt x="0" y="8492645"/>
                  </a:lnTo>
                  <a:close/>
                </a:path>
              </a:pathLst>
            </a:custGeom>
            <a:solidFill>
              <a:srgbClr val="013AFB">
                <a:alpha val="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34194" y="3155714"/>
            <a:ext cx="3712341" cy="626918"/>
            <a:chOff x="0" y="0"/>
            <a:chExt cx="4949788" cy="835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49825" cy="835914"/>
            </a:xfrm>
            <a:custGeom>
              <a:avLst/>
              <a:gdLst/>
              <a:ahLst/>
              <a:cxnLst/>
              <a:rect r="r" b="b" t="t" l="l"/>
              <a:pathLst>
                <a:path h="835914" w="4949825">
                  <a:moveTo>
                    <a:pt x="4905121" y="835914"/>
                  </a:moveTo>
                  <a:lnTo>
                    <a:pt x="44704" y="835914"/>
                  </a:lnTo>
                  <a:cubicBezTo>
                    <a:pt x="20066" y="835914"/>
                    <a:pt x="0" y="819277"/>
                    <a:pt x="0" y="798957"/>
                  </a:cubicBezTo>
                  <a:lnTo>
                    <a:pt x="0" y="36957"/>
                  </a:lnTo>
                  <a:cubicBezTo>
                    <a:pt x="0" y="16637"/>
                    <a:pt x="20066" y="0"/>
                    <a:pt x="44704" y="0"/>
                  </a:cubicBezTo>
                  <a:lnTo>
                    <a:pt x="4905121" y="0"/>
                  </a:lnTo>
                  <a:cubicBezTo>
                    <a:pt x="4929759" y="0"/>
                    <a:pt x="4949825" y="16637"/>
                    <a:pt x="4949825" y="36957"/>
                  </a:cubicBezTo>
                  <a:lnTo>
                    <a:pt x="4949825" y="798957"/>
                  </a:lnTo>
                  <a:cubicBezTo>
                    <a:pt x="4949825" y="819277"/>
                    <a:pt x="4929759" y="835914"/>
                    <a:pt x="4905121" y="835914"/>
                  </a:cubicBezTo>
                  <a:close/>
                </a:path>
              </a:pathLst>
            </a:custGeom>
            <a:solidFill>
              <a:srgbClr val="013AF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55995" y="5834801"/>
            <a:ext cx="15697808" cy="1638300"/>
            <a:chOff x="0" y="0"/>
            <a:chExt cx="20930411" cy="21844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12322208" y="0"/>
              <a:ext cx="8608203" cy="218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On attend de vous d’adopter une stack suivante : un client frontend, un serveur backend, un MCP avec tooling et enfin un model.</a:t>
              </a:r>
            </a:p>
          </p:txBody>
        </p:sp>
        <p:grpSp>
          <p:nvGrpSpPr>
            <p:cNvPr name="Group 15" id="15"/>
            <p:cNvGrpSpPr>
              <a:grpSpLocks noChangeAspect="true"/>
            </p:cNvGrpSpPr>
            <p:nvPr/>
          </p:nvGrpSpPr>
          <p:grpSpPr>
            <a:xfrm rot="0">
              <a:off x="11176810" y="361501"/>
              <a:ext cx="865998" cy="1461398"/>
              <a:chOff x="0" y="0"/>
              <a:chExt cx="865998" cy="146139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66013" cy="1461389"/>
              </a:xfrm>
              <a:custGeom>
                <a:avLst/>
                <a:gdLst/>
                <a:ahLst/>
                <a:cxnLst/>
                <a:rect r="r" b="b" t="t" l="l"/>
                <a:pathLst>
                  <a:path h="1461389" w="866013">
                    <a:moveTo>
                      <a:pt x="0" y="0"/>
                    </a:moveTo>
                    <a:lnTo>
                      <a:pt x="866013" y="0"/>
                    </a:lnTo>
                    <a:lnTo>
                      <a:pt x="866013" y="1461389"/>
                    </a:lnTo>
                    <a:lnTo>
                      <a:pt x="0" y="146138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1" b="-222"/>
                </a:stretch>
              </a:blip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1211054" y="0"/>
              <a:ext cx="8608203" cy="218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Une stack technique est l'ensemble des technologies et des outils utilisés ensemble pour construire, développer et déployer une application ou un système.</a:t>
              </a:r>
            </a:p>
          </p:txBody>
        </p:sp>
        <p:grpSp>
          <p:nvGrpSpPr>
            <p:cNvPr name="Group 18" id="18"/>
            <p:cNvGrpSpPr>
              <a:grpSpLocks noChangeAspect="true"/>
            </p:cNvGrpSpPr>
            <p:nvPr/>
          </p:nvGrpSpPr>
          <p:grpSpPr>
            <a:xfrm rot="0">
              <a:off x="0" y="361501"/>
              <a:ext cx="865998" cy="1461398"/>
              <a:chOff x="0" y="0"/>
              <a:chExt cx="865998" cy="146139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66013" cy="1461389"/>
              </a:xfrm>
              <a:custGeom>
                <a:avLst/>
                <a:gdLst/>
                <a:ahLst/>
                <a:cxnLst/>
                <a:rect r="r" b="b" t="t" l="l"/>
                <a:pathLst>
                  <a:path h="1461389" w="866013">
                    <a:moveTo>
                      <a:pt x="0" y="0"/>
                    </a:moveTo>
                    <a:lnTo>
                      <a:pt x="866013" y="0"/>
                    </a:lnTo>
                    <a:lnTo>
                      <a:pt x="866013" y="1461389"/>
                    </a:lnTo>
                    <a:lnTo>
                      <a:pt x="0" y="146138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1" b="-222"/>
                </a:stretch>
              </a:blipFill>
            </p:spPr>
          </p:sp>
        </p:grpSp>
      </p:grpSp>
      <p:sp>
        <p:nvSpPr>
          <p:cNvPr name="TextBox 20" id="2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90833" y="3270998"/>
            <a:ext cx="3320746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1875" spc="93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C’est quoi 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11547" cy="3313972"/>
            <a:chOff x="0" y="0"/>
            <a:chExt cx="2415396" cy="44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413" cy="4418584"/>
            </a:xfrm>
            <a:custGeom>
              <a:avLst/>
              <a:gdLst/>
              <a:ahLst/>
              <a:cxnLst/>
              <a:rect r="r" b="b" t="t" l="l"/>
              <a:pathLst>
                <a:path h="4418584" w="2415413">
                  <a:moveTo>
                    <a:pt x="0" y="0"/>
                  </a:moveTo>
                  <a:lnTo>
                    <a:pt x="2415413" y="0"/>
                  </a:lnTo>
                  <a:lnTo>
                    <a:pt x="2415413" y="4418584"/>
                  </a:lnTo>
                  <a:lnTo>
                    <a:pt x="0" y="441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49" t="-9409" r="0" b="-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5674196" y="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01328" y="5973"/>
            <a:ext cx="13483087" cy="3239719"/>
            <a:chOff x="0" y="0"/>
            <a:chExt cx="17977450" cy="43196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77450" cy="4319625"/>
            </a:xfrm>
            <a:custGeom>
              <a:avLst/>
              <a:gdLst/>
              <a:ahLst/>
              <a:cxnLst/>
              <a:rect r="r" b="b" t="t" l="l"/>
              <a:pathLst>
                <a:path h="4319625" w="17977450">
                  <a:moveTo>
                    <a:pt x="0" y="0"/>
                  </a:moveTo>
                  <a:lnTo>
                    <a:pt x="17977450" y="0"/>
                  </a:lnTo>
                  <a:lnTo>
                    <a:pt x="17977450" y="4319625"/>
                  </a:lnTo>
                  <a:lnTo>
                    <a:pt x="0" y="4319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7977450" cy="416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56"/>
                </a:lnSpc>
              </a:pPr>
              <a:r>
                <a:rPr lang="en-US" sz="132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Architecture WEB</a:t>
              </a:r>
              <a:r>
                <a:rPr lang="en-US" sz="132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9212" y="3113239"/>
            <a:ext cx="5729308" cy="6354611"/>
            <a:chOff x="0" y="0"/>
            <a:chExt cx="7639078" cy="84728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39050" cy="8472843"/>
            </a:xfrm>
            <a:custGeom>
              <a:avLst/>
              <a:gdLst/>
              <a:ahLst/>
              <a:cxnLst/>
              <a:rect r="r" b="b" t="t" l="l"/>
              <a:pathLst>
                <a:path h="8472843" w="7639050">
                  <a:moveTo>
                    <a:pt x="0" y="0"/>
                  </a:moveTo>
                  <a:lnTo>
                    <a:pt x="7639050" y="0"/>
                  </a:lnTo>
                  <a:lnTo>
                    <a:pt x="7639050" y="8472843"/>
                  </a:lnTo>
                  <a:lnTo>
                    <a:pt x="0" y="8472843"/>
                  </a:lnTo>
                  <a:close/>
                </a:path>
              </a:pathLst>
            </a:custGeom>
            <a:solidFill>
              <a:srgbClr val="013AFB">
                <a:alpha val="2470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392493" y="2880227"/>
            <a:ext cx="2276242" cy="770775"/>
            <a:chOff x="0" y="0"/>
            <a:chExt cx="3034990" cy="1027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35046" cy="1027684"/>
            </a:xfrm>
            <a:custGeom>
              <a:avLst/>
              <a:gdLst/>
              <a:ahLst/>
              <a:cxnLst/>
              <a:rect r="r" b="b" t="t" l="l"/>
              <a:pathLst>
                <a:path h="1027684" w="3035046">
                  <a:moveTo>
                    <a:pt x="0" y="0"/>
                  </a:moveTo>
                  <a:lnTo>
                    <a:pt x="3035046" y="0"/>
                  </a:lnTo>
                  <a:lnTo>
                    <a:pt x="3035046" y="1027684"/>
                  </a:lnTo>
                  <a:lnTo>
                    <a:pt x="0" y="1027684"/>
                  </a:lnTo>
                  <a:close/>
                </a:path>
              </a:pathLst>
            </a:custGeom>
            <a:solidFill>
              <a:srgbClr val="013AF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483918" y="3024265"/>
            <a:ext cx="209339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FrontEnd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7918520" y="5583371"/>
            <a:ext cx="3046520" cy="590667"/>
          </a:xfrm>
          <a:prstGeom prst="line">
            <a:avLst/>
          </a:prstGeom>
          <a:ln cap="rnd" w="19050">
            <a:solidFill>
              <a:srgbClr val="15608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0965041" y="3826298"/>
            <a:ext cx="5223070" cy="5432002"/>
            <a:chOff x="0" y="0"/>
            <a:chExt cx="5358120" cy="55724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58067" cy="5572285"/>
            </a:xfrm>
            <a:custGeom>
              <a:avLst/>
              <a:gdLst/>
              <a:ahLst/>
              <a:cxnLst/>
              <a:rect r="r" b="b" t="t" l="l"/>
              <a:pathLst>
                <a:path h="5572285" w="5358067">
                  <a:moveTo>
                    <a:pt x="0" y="0"/>
                  </a:moveTo>
                  <a:lnTo>
                    <a:pt x="5358067" y="0"/>
                  </a:lnTo>
                  <a:lnTo>
                    <a:pt x="5358067" y="5572285"/>
                  </a:lnTo>
                  <a:lnTo>
                    <a:pt x="0" y="5572285"/>
                  </a:lnTo>
                  <a:close/>
                </a:path>
              </a:pathLst>
            </a:custGeom>
            <a:solidFill>
              <a:srgbClr val="013AFB">
                <a:alpha val="24706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273991" y="3455242"/>
            <a:ext cx="1825159" cy="770775"/>
            <a:chOff x="0" y="0"/>
            <a:chExt cx="2433546" cy="1027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3598" cy="1027684"/>
            </a:xfrm>
            <a:custGeom>
              <a:avLst/>
              <a:gdLst/>
              <a:ahLst/>
              <a:cxnLst/>
              <a:rect r="r" b="b" t="t" l="l"/>
              <a:pathLst>
                <a:path h="1027684" w="2433598">
                  <a:moveTo>
                    <a:pt x="0" y="0"/>
                  </a:moveTo>
                  <a:lnTo>
                    <a:pt x="2433598" y="0"/>
                  </a:lnTo>
                  <a:lnTo>
                    <a:pt x="2433598" y="1027684"/>
                  </a:lnTo>
                  <a:lnTo>
                    <a:pt x="0" y="1027684"/>
                  </a:lnTo>
                  <a:close/>
                </a:path>
              </a:pathLst>
            </a:custGeom>
            <a:solidFill>
              <a:srgbClr val="013AF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319702" y="3599279"/>
            <a:ext cx="173373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BackEnd</a:t>
            </a:r>
          </a:p>
        </p:txBody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2483918" y="3840629"/>
            <a:ext cx="649498" cy="1096048"/>
            <a:chOff x="0" y="0"/>
            <a:chExt cx="865998" cy="14613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6013" cy="1461389"/>
            </a:xfrm>
            <a:custGeom>
              <a:avLst/>
              <a:gdLst/>
              <a:ahLst/>
              <a:cxnLst/>
              <a:rect r="r" b="b" t="t" l="l"/>
              <a:pathLst>
                <a:path h="1461389" w="866013">
                  <a:moveTo>
                    <a:pt x="0" y="0"/>
                  </a:moveTo>
                  <a:lnTo>
                    <a:pt x="866013" y="0"/>
                  </a:lnTo>
                  <a:lnTo>
                    <a:pt x="866013" y="1461389"/>
                  </a:lnTo>
                  <a:lnTo>
                    <a:pt x="0" y="146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222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2483918" y="6891414"/>
            <a:ext cx="649498" cy="1096048"/>
            <a:chOff x="0" y="0"/>
            <a:chExt cx="865998" cy="14613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6013" cy="1461389"/>
            </a:xfrm>
            <a:custGeom>
              <a:avLst/>
              <a:gdLst/>
              <a:ahLst/>
              <a:cxnLst/>
              <a:rect r="r" b="b" t="t" l="l"/>
              <a:pathLst>
                <a:path h="1461389" w="866013">
                  <a:moveTo>
                    <a:pt x="0" y="0"/>
                  </a:moveTo>
                  <a:lnTo>
                    <a:pt x="866013" y="0"/>
                  </a:lnTo>
                  <a:lnTo>
                    <a:pt x="866013" y="1461389"/>
                  </a:lnTo>
                  <a:lnTo>
                    <a:pt x="0" y="146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222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5131333" y="4632687"/>
            <a:ext cx="763314" cy="1096048"/>
            <a:chOff x="0" y="0"/>
            <a:chExt cx="1017752" cy="14613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7778" cy="1461389"/>
            </a:xfrm>
            <a:custGeom>
              <a:avLst/>
              <a:gdLst/>
              <a:ahLst/>
              <a:cxnLst/>
              <a:rect r="r" b="b" t="t" l="l"/>
              <a:pathLst>
                <a:path h="1461389" w="1017778">
                  <a:moveTo>
                    <a:pt x="0" y="0"/>
                  </a:moveTo>
                  <a:lnTo>
                    <a:pt x="1017778" y="0"/>
                  </a:lnTo>
                  <a:lnTo>
                    <a:pt x="1017778" y="1461389"/>
                  </a:lnTo>
                  <a:lnTo>
                    <a:pt x="0" y="146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83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125579" y="4491114"/>
            <a:ext cx="3931920" cy="480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Un </a:t>
            </a: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backend est la structure dites serveur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d’une application WEB. Elle concerne tous les traitements et demandes d’informations, de données, et requêtes demandé par le client.</a:t>
            </a:r>
          </a:p>
          <a:p>
            <a:pPr algn="r">
              <a:lnSpc>
                <a:spcPts val="2760"/>
              </a:lnSpc>
            </a:pPr>
          </a:p>
          <a:p>
            <a:pPr algn="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Votre backend devra être réalisé en </a:t>
            </a:r>
            <a:r>
              <a:rPr lang="en-US" b="true" sz="230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Python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, et devra gérer le </a:t>
            </a:r>
            <a:r>
              <a:rPr lang="en-US" b="true" sz="230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MCP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, le </a:t>
            </a:r>
            <a:r>
              <a:rPr lang="en-US" b="true" sz="230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tooling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et intégrer votre </a:t>
            </a:r>
            <a:r>
              <a:rPr lang="en-US" b="true" sz="230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Model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local.</a:t>
            </a:r>
          </a:p>
          <a:p>
            <a:pPr algn="r">
              <a:lnSpc>
                <a:spcPts val="2760"/>
              </a:lnSpc>
            </a:pPr>
          </a:p>
          <a:p>
            <a:pPr algn="r">
              <a:lnSpc>
                <a:spcPts val="276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317452" y="3771900"/>
            <a:ext cx="3931920" cy="548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Un </a:t>
            </a: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frontend est le client web d’un système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(page, application..). Le client est l’outil qui permet à l’utilisateur d’interagir avec le système, par des protocoles entre le frontend et le backend.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Votre frontend doit être réalisé en </a:t>
            </a: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Javascript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(choix libre), et devra </a:t>
            </a: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gérer la communication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avec votre backend afin d’en </a:t>
            </a: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récupérer les informations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et les </a:t>
            </a: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présenter à l’utilisateur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5131333" y="7286112"/>
            <a:ext cx="763314" cy="1096048"/>
            <a:chOff x="0" y="0"/>
            <a:chExt cx="1017752" cy="146139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7778" cy="1461389"/>
            </a:xfrm>
            <a:custGeom>
              <a:avLst/>
              <a:gdLst/>
              <a:ahLst/>
              <a:cxnLst/>
              <a:rect r="r" b="b" t="t" l="l"/>
              <a:pathLst>
                <a:path h="1461389" w="1017778">
                  <a:moveTo>
                    <a:pt x="0" y="0"/>
                  </a:moveTo>
                  <a:lnTo>
                    <a:pt x="1017778" y="0"/>
                  </a:lnTo>
                  <a:lnTo>
                    <a:pt x="1017778" y="1461389"/>
                  </a:lnTo>
                  <a:lnTo>
                    <a:pt x="0" y="146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83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11547" cy="3313972"/>
            <a:chOff x="0" y="0"/>
            <a:chExt cx="2415396" cy="44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413" cy="4418584"/>
            </a:xfrm>
            <a:custGeom>
              <a:avLst/>
              <a:gdLst/>
              <a:ahLst/>
              <a:cxnLst/>
              <a:rect r="r" b="b" t="t" l="l"/>
              <a:pathLst>
                <a:path h="4418584" w="2415413">
                  <a:moveTo>
                    <a:pt x="0" y="0"/>
                  </a:moveTo>
                  <a:lnTo>
                    <a:pt x="2415413" y="0"/>
                  </a:lnTo>
                  <a:lnTo>
                    <a:pt x="2415413" y="4418584"/>
                  </a:lnTo>
                  <a:lnTo>
                    <a:pt x="0" y="441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49" t="-9409" r="0" b="-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5674196" y="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01328" y="78904"/>
            <a:ext cx="13483087" cy="3239719"/>
            <a:chOff x="0" y="0"/>
            <a:chExt cx="17977450" cy="43196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77450" cy="4319625"/>
            </a:xfrm>
            <a:custGeom>
              <a:avLst/>
              <a:gdLst/>
              <a:ahLst/>
              <a:cxnLst/>
              <a:rect r="r" b="b" t="t" l="l"/>
              <a:pathLst>
                <a:path h="4319625" w="17977450">
                  <a:moveTo>
                    <a:pt x="0" y="0"/>
                  </a:moveTo>
                  <a:lnTo>
                    <a:pt x="17977450" y="0"/>
                  </a:lnTo>
                  <a:lnTo>
                    <a:pt x="17977450" y="4319625"/>
                  </a:lnTo>
                  <a:lnTo>
                    <a:pt x="0" y="4319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7977450" cy="416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56"/>
                </a:lnSpc>
              </a:pPr>
              <a:r>
                <a:rPr lang="en-US" sz="132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MCP</a:t>
              </a:r>
              <a:r>
                <a:rPr lang="en-US" sz="132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469173"/>
            <a:ext cx="15952398" cy="6369556"/>
            <a:chOff x="0" y="0"/>
            <a:chExt cx="21269864" cy="84927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69748" cy="8492645"/>
            </a:xfrm>
            <a:custGeom>
              <a:avLst/>
              <a:gdLst/>
              <a:ahLst/>
              <a:cxnLst/>
              <a:rect r="r" b="b" t="t" l="l"/>
              <a:pathLst>
                <a:path h="8492645" w="21269748">
                  <a:moveTo>
                    <a:pt x="0" y="0"/>
                  </a:moveTo>
                  <a:lnTo>
                    <a:pt x="21269748" y="0"/>
                  </a:lnTo>
                  <a:lnTo>
                    <a:pt x="21269748" y="8492645"/>
                  </a:lnTo>
                  <a:lnTo>
                    <a:pt x="0" y="8492645"/>
                  </a:lnTo>
                  <a:close/>
                </a:path>
              </a:pathLst>
            </a:custGeom>
            <a:solidFill>
              <a:srgbClr val="013AFB">
                <a:alpha val="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34194" y="3155714"/>
            <a:ext cx="3712341" cy="626918"/>
            <a:chOff x="0" y="0"/>
            <a:chExt cx="4949788" cy="835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49825" cy="835914"/>
            </a:xfrm>
            <a:custGeom>
              <a:avLst/>
              <a:gdLst/>
              <a:ahLst/>
              <a:cxnLst/>
              <a:rect r="r" b="b" t="t" l="l"/>
              <a:pathLst>
                <a:path h="835914" w="4949825">
                  <a:moveTo>
                    <a:pt x="4905121" y="835914"/>
                  </a:moveTo>
                  <a:lnTo>
                    <a:pt x="44704" y="835914"/>
                  </a:lnTo>
                  <a:cubicBezTo>
                    <a:pt x="20066" y="835914"/>
                    <a:pt x="0" y="819277"/>
                    <a:pt x="0" y="798957"/>
                  </a:cubicBezTo>
                  <a:lnTo>
                    <a:pt x="0" y="36957"/>
                  </a:lnTo>
                  <a:cubicBezTo>
                    <a:pt x="0" y="16637"/>
                    <a:pt x="20066" y="0"/>
                    <a:pt x="44704" y="0"/>
                  </a:cubicBezTo>
                  <a:lnTo>
                    <a:pt x="4905121" y="0"/>
                  </a:lnTo>
                  <a:cubicBezTo>
                    <a:pt x="4929759" y="0"/>
                    <a:pt x="4949825" y="16637"/>
                    <a:pt x="4949825" y="36957"/>
                  </a:cubicBezTo>
                  <a:lnTo>
                    <a:pt x="4949825" y="798957"/>
                  </a:lnTo>
                  <a:cubicBezTo>
                    <a:pt x="4949825" y="819277"/>
                    <a:pt x="4929759" y="835914"/>
                    <a:pt x="4905121" y="835914"/>
                  </a:cubicBezTo>
                  <a:close/>
                </a:path>
              </a:pathLst>
            </a:custGeom>
            <a:solidFill>
              <a:srgbClr val="013AF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403704" y="5834801"/>
            <a:ext cx="6456152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Vous devez donc simuler un </a:t>
            </a:r>
            <a:r>
              <a:rPr lang="en-US" sz="2700" b="true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MCP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dans votre système, qui s’occupera de l’</a:t>
            </a:r>
            <a:r>
              <a:rPr lang="en-US" sz="2700" b="true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intégration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 votre Model et de son </a:t>
            </a:r>
            <a:r>
              <a:rPr lang="en-US" sz="2700" b="true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utilisation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9544656" y="6105927"/>
            <a:ext cx="649498" cy="1096048"/>
            <a:chOff x="0" y="0"/>
            <a:chExt cx="865998" cy="14613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6013" cy="1461389"/>
            </a:xfrm>
            <a:custGeom>
              <a:avLst/>
              <a:gdLst/>
              <a:ahLst/>
              <a:cxnLst/>
              <a:rect r="r" b="b" t="t" l="l"/>
              <a:pathLst>
                <a:path h="1461389" w="866013">
                  <a:moveTo>
                    <a:pt x="0" y="0"/>
                  </a:moveTo>
                  <a:lnTo>
                    <a:pt x="866013" y="0"/>
                  </a:lnTo>
                  <a:lnTo>
                    <a:pt x="866013" y="1461389"/>
                  </a:lnTo>
                  <a:lnTo>
                    <a:pt x="0" y="146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22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070339" y="5834801"/>
            <a:ext cx="6456152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Un </a:t>
            </a:r>
            <a:r>
              <a:rPr lang="en-US" sz="2700" b="true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MCP (Model Context Protocol)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est l’ensemble des outils autour d’un </a:t>
            </a:r>
            <a:r>
              <a:rPr lang="en-US" sz="2700" b="true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Model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qui permettent et facilitent l’intégration du Model dans un système.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162049" y="6105927"/>
            <a:ext cx="649498" cy="1096048"/>
            <a:chOff x="0" y="0"/>
            <a:chExt cx="865998" cy="14613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6013" cy="1461389"/>
            </a:xfrm>
            <a:custGeom>
              <a:avLst/>
              <a:gdLst/>
              <a:ahLst/>
              <a:cxnLst/>
              <a:rect r="r" b="b" t="t" l="l"/>
              <a:pathLst>
                <a:path h="1461389" w="866013">
                  <a:moveTo>
                    <a:pt x="0" y="0"/>
                  </a:moveTo>
                  <a:lnTo>
                    <a:pt x="866013" y="0"/>
                  </a:lnTo>
                  <a:lnTo>
                    <a:pt x="866013" y="1461389"/>
                  </a:lnTo>
                  <a:lnTo>
                    <a:pt x="0" y="146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22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90833" y="3270998"/>
            <a:ext cx="3320746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1875" spc="93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C’est quoi 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11547" cy="3313972"/>
            <a:chOff x="0" y="0"/>
            <a:chExt cx="2415396" cy="44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413" cy="4418584"/>
            </a:xfrm>
            <a:custGeom>
              <a:avLst/>
              <a:gdLst/>
              <a:ahLst/>
              <a:cxnLst/>
              <a:rect r="r" b="b" t="t" l="l"/>
              <a:pathLst>
                <a:path h="4418584" w="2415413">
                  <a:moveTo>
                    <a:pt x="0" y="0"/>
                  </a:moveTo>
                  <a:lnTo>
                    <a:pt x="2415413" y="0"/>
                  </a:lnTo>
                  <a:lnTo>
                    <a:pt x="2415413" y="4418584"/>
                  </a:lnTo>
                  <a:lnTo>
                    <a:pt x="0" y="441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49" t="-9409" r="0" b="-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5674196" y="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39428" y="-193155"/>
            <a:ext cx="13483087" cy="3239719"/>
            <a:chOff x="0" y="0"/>
            <a:chExt cx="17977450" cy="43196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77450" cy="4319625"/>
            </a:xfrm>
            <a:custGeom>
              <a:avLst/>
              <a:gdLst/>
              <a:ahLst/>
              <a:cxnLst/>
              <a:rect r="r" b="b" t="t" l="l"/>
              <a:pathLst>
                <a:path h="4319625" w="17977450">
                  <a:moveTo>
                    <a:pt x="0" y="0"/>
                  </a:moveTo>
                  <a:lnTo>
                    <a:pt x="17977450" y="0"/>
                  </a:lnTo>
                  <a:lnTo>
                    <a:pt x="17977450" y="4319625"/>
                  </a:lnTo>
                  <a:lnTo>
                    <a:pt x="0" y="4319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7977450" cy="416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56"/>
                </a:lnSpc>
              </a:pPr>
              <a:r>
                <a:rPr lang="en-US" sz="132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Modeling - Ollama</a:t>
              </a:r>
              <a:r>
                <a:rPr lang="en-US" sz="132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9212" y="3113239"/>
            <a:ext cx="5729308" cy="6354611"/>
            <a:chOff x="0" y="0"/>
            <a:chExt cx="7639078" cy="84728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39050" cy="8472843"/>
            </a:xfrm>
            <a:custGeom>
              <a:avLst/>
              <a:gdLst/>
              <a:ahLst/>
              <a:cxnLst/>
              <a:rect r="r" b="b" t="t" l="l"/>
              <a:pathLst>
                <a:path h="8472843" w="7639050">
                  <a:moveTo>
                    <a:pt x="0" y="0"/>
                  </a:moveTo>
                  <a:lnTo>
                    <a:pt x="7639050" y="0"/>
                  </a:lnTo>
                  <a:lnTo>
                    <a:pt x="7639050" y="8472843"/>
                  </a:lnTo>
                  <a:lnTo>
                    <a:pt x="0" y="8472843"/>
                  </a:lnTo>
                  <a:close/>
                </a:path>
              </a:pathLst>
            </a:custGeom>
            <a:solidFill>
              <a:srgbClr val="013AFB">
                <a:alpha val="2470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392493" y="2880227"/>
            <a:ext cx="2276242" cy="770775"/>
            <a:chOff x="0" y="0"/>
            <a:chExt cx="3034990" cy="1027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35046" cy="1027684"/>
            </a:xfrm>
            <a:custGeom>
              <a:avLst/>
              <a:gdLst/>
              <a:ahLst/>
              <a:cxnLst/>
              <a:rect r="r" b="b" t="t" l="l"/>
              <a:pathLst>
                <a:path h="1027684" w="3035046">
                  <a:moveTo>
                    <a:pt x="0" y="0"/>
                  </a:moveTo>
                  <a:lnTo>
                    <a:pt x="3035046" y="0"/>
                  </a:lnTo>
                  <a:lnTo>
                    <a:pt x="3035046" y="1027684"/>
                  </a:lnTo>
                  <a:lnTo>
                    <a:pt x="0" y="1027684"/>
                  </a:lnTo>
                  <a:close/>
                </a:path>
              </a:pathLst>
            </a:custGeom>
            <a:solidFill>
              <a:srgbClr val="013AFB"/>
            </a:solidFill>
          </p:spPr>
        </p:sp>
      </p:grpSp>
      <p:sp>
        <p:nvSpPr>
          <p:cNvPr name="AutoShape 13" id="13"/>
          <p:cNvSpPr/>
          <p:nvPr/>
        </p:nvSpPr>
        <p:spPr>
          <a:xfrm flipV="true">
            <a:off x="7918520" y="5583371"/>
            <a:ext cx="3046520" cy="590667"/>
          </a:xfrm>
          <a:prstGeom prst="line">
            <a:avLst/>
          </a:prstGeom>
          <a:ln cap="rnd" w="19050">
            <a:solidFill>
              <a:srgbClr val="15608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965041" y="3826298"/>
            <a:ext cx="5133748" cy="4696927"/>
            <a:chOff x="0" y="0"/>
            <a:chExt cx="5266488" cy="48183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66436" cy="4818227"/>
            </a:xfrm>
            <a:custGeom>
              <a:avLst/>
              <a:gdLst/>
              <a:ahLst/>
              <a:cxnLst/>
              <a:rect r="r" b="b" t="t" l="l"/>
              <a:pathLst>
                <a:path h="4818227" w="5266436">
                  <a:moveTo>
                    <a:pt x="0" y="0"/>
                  </a:moveTo>
                  <a:lnTo>
                    <a:pt x="5266436" y="0"/>
                  </a:lnTo>
                  <a:lnTo>
                    <a:pt x="5266436" y="4818227"/>
                  </a:lnTo>
                  <a:lnTo>
                    <a:pt x="0" y="4818227"/>
                  </a:lnTo>
                  <a:close/>
                </a:path>
              </a:pathLst>
            </a:custGeom>
            <a:solidFill>
              <a:srgbClr val="013AFB">
                <a:alpha val="24706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273991" y="3455242"/>
            <a:ext cx="1825159" cy="770775"/>
            <a:chOff x="0" y="0"/>
            <a:chExt cx="2433546" cy="1027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3598" cy="1027684"/>
            </a:xfrm>
            <a:custGeom>
              <a:avLst/>
              <a:gdLst/>
              <a:ahLst/>
              <a:cxnLst/>
              <a:rect r="r" b="b" t="t" l="l"/>
              <a:pathLst>
                <a:path h="1027684" w="2433598">
                  <a:moveTo>
                    <a:pt x="0" y="0"/>
                  </a:moveTo>
                  <a:lnTo>
                    <a:pt x="2433598" y="0"/>
                  </a:lnTo>
                  <a:lnTo>
                    <a:pt x="2433598" y="1027684"/>
                  </a:lnTo>
                  <a:lnTo>
                    <a:pt x="0" y="1027684"/>
                  </a:lnTo>
                  <a:close/>
                </a:path>
              </a:pathLst>
            </a:custGeom>
            <a:solidFill>
              <a:srgbClr val="013AFB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2628356" y="4146302"/>
            <a:ext cx="649498" cy="1096048"/>
            <a:chOff x="0" y="0"/>
            <a:chExt cx="865998" cy="14613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6013" cy="1461389"/>
            </a:xfrm>
            <a:custGeom>
              <a:avLst/>
              <a:gdLst/>
              <a:ahLst/>
              <a:cxnLst/>
              <a:rect r="r" b="b" t="t" l="l"/>
              <a:pathLst>
                <a:path h="1461389" w="866013">
                  <a:moveTo>
                    <a:pt x="0" y="0"/>
                  </a:moveTo>
                  <a:lnTo>
                    <a:pt x="866013" y="0"/>
                  </a:lnTo>
                  <a:lnTo>
                    <a:pt x="866013" y="1461389"/>
                  </a:lnTo>
                  <a:lnTo>
                    <a:pt x="0" y="146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222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2628356" y="5858923"/>
            <a:ext cx="649498" cy="1096048"/>
            <a:chOff x="0" y="0"/>
            <a:chExt cx="865998" cy="14613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6013" cy="1461389"/>
            </a:xfrm>
            <a:custGeom>
              <a:avLst/>
              <a:gdLst/>
              <a:ahLst/>
              <a:cxnLst/>
              <a:rect r="r" b="b" t="t" l="l"/>
              <a:pathLst>
                <a:path h="1461389" w="866013">
                  <a:moveTo>
                    <a:pt x="0" y="0"/>
                  </a:moveTo>
                  <a:lnTo>
                    <a:pt x="866013" y="0"/>
                  </a:lnTo>
                  <a:lnTo>
                    <a:pt x="866013" y="1461389"/>
                  </a:lnTo>
                  <a:lnTo>
                    <a:pt x="0" y="146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222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5033809" y="4632687"/>
            <a:ext cx="763314" cy="1096048"/>
            <a:chOff x="0" y="0"/>
            <a:chExt cx="1017752" cy="14613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7778" cy="1461389"/>
            </a:xfrm>
            <a:custGeom>
              <a:avLst/>
              <a:gdLst/>
              <a:ahLst/>
              <a:cxnLst/>
              <a:rect r="r" b="b" t="t" l="l"/>
              <a:pathLst>
                <a:path h="1461389" w="1017778">
                  <a:moveTo>
                    <a:pt x="0" y="0"/>
                  </a:moveTo>
                  <a:lnTo>
                    <a:pt x="1017778" y="0"/>
                  </a:lnTo>
                  <a:lnTo>
                    <a:pt x="1017778" y="1461389"/>
                  </a:lnTo>
                  <a:lnTo>
                    <a:pt x="0" y="146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83" b="0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2628356" y="7706398"/>
            <a:ext cx="649498" cy="1096048"/>
            <a:chOff x="0" y="0"/>
            <a:chExt cx="865998" cy="14613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66013" cy="1461389"/>
            </a:xfrm>
            <a:custGeom>
              <a:avLst/>
              <a:gdLst/>
              <a:ahLst/>
              <a:cxnLst/>
              <a:rect r="r" b="b" t="t" l="l"/>
              <a:pathLst>
                <a:path h="1461389" w="866013">
                  <a:moveTo>
                    <a:pt x="0" y="0"/>
                  </a:moveTo>
                  <a:lnTo>
                    <a:pt x="866013" y="0"/>
                  </a:lnTo>
                  <a:lnTo>
                    <a:pt x="866013" y="1461389"/>
                  </a:lnTo>
                  <a:lnTo>
                    <a:pt x="0" y="146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222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5033809" y="7067550"/>
            <a:ext cx="763314" cy="1096048"/>
            <a:chOff x="0" y="0"/>
            <a:chExt cx="1017752" cy="146139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7778" cy="1461389"/>
            </a:xfrm>
            <a:custGeom>
              <a:avLst/>
              <a:gdLst/>
              <a:ahLst/>
              <a:cxnLst/>
              <a:rect r="r" b="b" t="t" l="l"/>
              <a:pathLst>
                <a:path h="1461389" w="1017778">
                  <a:moveTo>
                    <a:pt x="0" y="0"/>
                  </a:moveTo>
                  <a:lnTo>
                    <a:pt x="1017778" y="0"/>
                  </a:lnTo>
                  <a:lnTo>
                    <a:pt x="1017778" y="1461389"/>
                  </a:lnTo>
                  <a:lnTo>
                    <a:pt x="0" y="146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83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3521090" y="7687348"/>
            <a:ext cx="39319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Ollama est disponible dans plusieurs technologies, dont Python !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582312" y="8378078"/>
            <a:ext cx="1760444" cy="1760444"/>
          </a:xfrm>
          <a:custGeom>
            <a:avLst/>
            <a:gdLst/>
            <a:ahLst/>
            <a:cxnLst/>
            <a:rect r="r" b="b" t="t" l="l"/>
            <a:pathLst>
              <a:path h="1760444" w="1760444">
                <a:moveTo>
                  <a:pt x="0" y="0"/>
                </a:moveTo>
                <a:lnTo>
                  <a:pt x="1760445" y="0"/>
                </a:lnTo>
                <a:lnTo>
                  <a:pt x="1760445" y="1760444"/>
                </a:lnTo>
                <a:lnTo>
                  <a:pt x="0" y="1760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483918" y="3024265"/>
            <a:ext cx="209339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Ollama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530615" y="4127252"/>
            <a:ext cx="393192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Ollama 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(https://ollama.com/) est un outil permettant de déployer des modèles en local.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19702" y="3599279"/>
            <a:ext cx="173373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Chatbot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65041" y="6758324"/>
            <a:ext cx="3931920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</a:p>
          <a:p>
            <a:pPr algn="r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L’</a:t>
            </a:r>
            <a:r>
              <a:rPr lang="en-US" b="true" sz="230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utilisation d’un modèle open-source local est obligatoire !</a:t>
            </a:r>
          </a:p>
          <a:p>
            <a:pPr algn="r">
              <a:lnSpc>
                <a:spcPts val="2760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1033465" y="4554671"/>
            <a:ext cx="3931920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Votre </a:t>
            </a: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model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doit avoir la forme d’un </a:t>
            </a: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chatbot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, qui sera utilisé pour répondre à des </a:t>
            </a: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requêtes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et </a:t>
            </a: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questions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 </a:t>
            </a: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l’utilisateur de votre client web.</a:t>
            </a:r>
          </a:p>
          <a:p>
            <a:pPr algn="r">
              <a:lnSpc>
                <a:spcPts val="276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3521090" y="5795244"/>
            <a:ext cx="3931920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Il s’agit d’une </a:t>
            </a: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API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permettant </a:t>
            </a:r>
            <a:r>
              <a:rPr lang="en-US" sz="230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d’utiliser (de pull) des LLMs</a:t>
            </a: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comme la famille GPT, Gemini... Il vous faudra une clé API.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11547" cy="3313972"/>
            <a:chOff x="0" y="0"/>
            <a:chExt cx="2415396" cy="44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413" cy="4418584"/>
            </a:xfrm>
            <a:custGeom>
              <a:avLst/>
              <a:gdLst/>
              <a:ahLst/>
              <a:cxnLst/>
              <a:rect r="r" b="b" t="t" l="l"/>
              <a:pathLst>
                <a:path h="4418584" w="2415413">
                  <a:moveTo>
                    <a:pt x="0" y="0"/>
                  </a:moveTo>
                  <a:lnTo>
                    <a:pt x="2415413" y="0"/>
                  </a:lnTo>
                  <a:lnTo>
                    <a:pt x="2415413" y="4418584"/>
                  </a:lnTo>
                  <a:lnTo>
                    <a:pt x="0" y="441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49" t="-9409" r="0" b="-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5674196" y="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01328" y="78904"/>
            <a:ext cx="13483087" cy="3239719"/>
            <a:chOff x="0" y="0"/>
            <a:chExt cx="17977450" cy="43196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77450" cy="4319625"/>
            </a:xfrm>
            <a:custGeom>
              <a:avLst/>
              <a:gdLst/>
              <a:ahLst/>
              <a:cxnLst/>
              <a:rect r="r" b="b" t="t" l="l"/>
              <a:pathLst>
                <a:path h="4319625" w="17977450">
                  <a:moveTo>
                    <a:pt x="0" y="0"/>
                  </a:moveTo>
                  <a:lnTo>
                    <a:pt x="17977450" y="0"/>
                  </a:lnTo>
                  <a:lnTo>
                    <a:pt x="17977450" y="4319625"/>
                  </a:lnTo>
                  <a:lnTo>
                    <a:pt x="0" y="4319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7977450" cy="416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56"/>
                </a:lnSpc>
              </a:pPr>
              <a:r>
                <a:rPr lang="en-US" sz="132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Tooling</a:t>
              </a:r>
              <a:r>
                <a:rPr lang="en-US" sz="132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469173"/>
            <a:ext cx="15952398" cy="6369556"/>
            <a:chOff x="0" y="0"/>
            <a:chExt cx="21269864" cy="84927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69748" cy="8492645"/>
            </a:xfrm>
            <a:custGeom>
              <a:avLst/>
              <a:gdLst/>
              <a:ahLst/>
              <a:cxnLst/>
              <a:rect r="r" b="b" t="t" l="l"/>
              <a:pathLst>
                <a:path h="8492645" w="21269748">
                  <a:moveTo>
                    <a:pt x="0" y="0"/>
                  </a:moveTo>
                  <a:lnTo>
                    <a:pt x="21269748" y="0"/>
                  </a:lnTo>
                  <a:lnTo>
                    <a:pt x="21269748" y="8492645"/>
                  </a:lnTo>
                  <a:lnTo>
                    <a:pt x="0" y="8492645"/>
                  </a:lnTo>
                  <a:close/>
                </a:path>
              </a:pathLst>
            </a:custGeom>
            <a:solidFill>
              <a:srgbClr val="013AFB">
                <a:alpha val="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34194" y="3155714"/>
            <a:ext cx="3712341" cy="626918"/>
            <a:chOff x="0" y="0"/>
            <a:chExt cx="4949788" cy="835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49825" cy="835914"/>
            </a:xfrm>
            <a:custGeom>
              <a:avLst/>
              <a:gdLst/>
              <a:ahLst/>
              <a:cxnLst/>
              <a:rect r="r" b="b" t="t" l="l"/>
              <a:pathLst>
                <a:path h="835914" w="4949825">
                  <a:moveTo>
                    <a:pt x="4905121" y="835914"/>
                  </a:moveTo>
                  <a:lnTo>
                    <a:pt x="44704" y="835914"/>
                  </a:lnTo>
                  <a:cubicBezTo>
                    <a:pt x="20066" y="835914"/>
                    <a:pt x="0" y="819277"/>
                    <a:pt x="0" y="798957"/>
                  </a:cubicBezTo>
                  <a:lnTo>
                    <a:pt x="0" y="36957"/>
                  </a:lnTo>
                  <a:cubicBezTo>
                    <a:pt x="0" y="16637"/>
                    <a:pt x="20066" y="0"/>
                    <a:pt x="44704" y="0"/>
                  </a:cubicBezTo>
                  <a:lnTo>
                    <a:pt x="4905121" y="0"/>
                  </a:lnTo>
                  <a:cubicBezTo>
                    <a:pt x="4929759" y="0"/>
                    <a:pt x="4949825" y="16637"/>
                    <a:pt x="4949825" y="36957"/>
                  </a:cubicBezTo>
                  <a:lnTo>
                    <a:pt x="4949825" y="798957"/>
                  </a:lnTo>
                  <a:cubicBezTo>
                    <a:pt x="4949825" y="819277"/>
                    <a:pt x="4929759" y="835914"/>
                    <a:pt x="4905121" y="835914"/>
                  </a:cubicBezTo>
                  <a:close/>
                </a:path>
              </a:pathLst>
            </a:custGeom>
            <a:solidFill>
              <a:srgbClr val="013AF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55995" y="5015651"/>
            <a:ext cx="15697808" cy="3686175"/>
            <a:chOff x="0" y="0"/>
            <a:chExt cx="20930411" cy="49149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12322208" y="546100"/>
              <a:ext cx="8608203" cy="3276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Il permet d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 séparer le </a:t>
              </a:r>
              <a:r>
                <a:rPr lang="en-US" sz="2700" b="true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raisonnement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de </a:t>
              </a:r>
              <a:r>
                <a:rPr lang="en-US" sz="2700" b="true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l’exécution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: l’IA analyse la requête et décide quoi faire, tandis que les outils exécutent concrètement les tâch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es demandées, ren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dant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le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systèm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pl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us mod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ulair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,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contrôlabl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 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et 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ré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ali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.</a:t>
              </a:r>
            </a:p>
          </p:txBody>
        </p:sp>
        <p:grpSp>
          <p:nvGrpSpPr>
            <p:cNvPr name="Group 15" id="15"/>
            <p:cNvGrpSpPr>
              <a:grpSpLocks noChangeAspect="true"/>
            </p:cNvGrpSpPr>
            <p:nvPr/>
          </p:nvGrpSpPr>
          <p:grpSpPr>
            <a:xfrm rot="0">
              <a:off x="11176810" y="1453701"/>
              <a:ext cx="865998" cy="1461398"/>
              <a:chOff x="0" y="0"/>
              <a:chExt cx="865998" cy="146139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66013" cy="1461389"/>
              </a:xfrm>
              <a:custGeom>
                <a:avLst/>
                <a:gdLst/>
                <a:ahLst/>
                <a:cxnLst/>
                <a:rect r="r" b="b" t="t" l="l"/>
                <a:pathLst>
                  <a:path h="1461389" w="866013">
                    <a:moveTo>
                      <a:pt x="0" y="0"/>
                    </a:moveTo>
                    <a:lnTo>
                      <a:pt x="866013" y="0"/>
                    </a:lnTo>
                    <a:lnTo>
                      <a:pt x="866013" y="1461389"/>
                    </a:lnTo>
                    <a:lnTo>
                      <a:pt x="0" y="146138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1" b="-222"/>
                </a:stretch>
              </a:blip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1211054" y="0"/>
              <a:ext cx="8608203" cy="4914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Le </a:t>
              </a:r>
              <a:r>
                <a:rPr lang="en-US" sz="2700" b="true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tooling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co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res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po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nd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aux a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ct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ions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externes que l’agent IA ne peut pas effectuer seul, comme le </a:t>
              </a:r>
              <a:r>
                <a:rPr lang="en-US" sz="2700" b="true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scrapping de données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, le </a:t>
              </a:r>
              <a:r>
                <a:rPr lang="en-US" sz="2700" b="true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traitement d’informations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ou la </a:t>
              </a:r>
              <a:r>
                <a:rPr lang="en-US" sz="2700" b="true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génération de contenus</a:t>
              </a: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spécifiques. 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Ces actions sont exposées sous forme d’outils (tools) accessibles via le serveur MCP.</a:t>
              </a:r>
            </a:p>
          </p:txBody>
        </p:sp>
        <p:grpSp>
          <p:nvGrpSpPr>
            <p:cNvPr name="Group 18" id="18"/>
            <p:cNvGrpSpPr>
              <a:grpSpLocks noChangeAspect="true"/>
            </p:cNvGrpSpPr>
            <p:nvPr/>
          </p:nvGrpSpPr>
          <p:grpSpPr>
            <a:xfrm rot="0">
              <a:off x="0" y="1453701"/>
              <a:ext cx="865998" cy="1461398"/>
              <a:chOff x="0" y="0"/>
              <a:chExt cx="865998" cy="146139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66013" cy="1461389"/>
              </a:xfrm>
              <a:custGeom>
                <a:avLst/>
                <a:gdLst/>
                <a:ahLst/>
                <a:cxnLst/>
                <a:rect r="r" b="b" t="t" l="l"/>
                <a:pathLst>
                  <a:path h="1461389" w="866013">
                    <a:moveTo>
                      <a:pt x="0" y="0"/>
                    </a:moveTo>
                    <a:lnTo>
                      <a:pt x="866013" y="0"/>
                    </a:lnTo>
                    <a:lnTo>
                      <a:pt x="866013" y="1461389"/>
                    </a:lnTo>
                    <a:lnTo>
                      <a:pt x="0" y="146138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1" b="-222"/>
                </a:stretch>
              </a:blipFill>
            </p:spPr>
          </p:sp>
        </p:grpSp>
      </p:grpSp>
      <p:sp>
        <p:nvSpPr>
          <p:cNvPr name="TextBox 20" id="2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90833" y="3270998"/>
            <a:ext cx="3320746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1875" spc="93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C’est quoi 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11547" cy="3313972"/>
            <a:chOff x="0" y="0"/>
            <a:chExt cx="2415396" cy="44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413" cy="4418584"/>
            </a:xfrm>
            <a:custGeom>
              <a:avLst/>
              <a:gdLst/>
              <a:ahLst/>
              <a:cxnLst/>
              <a:rect r="r" b="b" t="t" l="l"/>
              <a:pathLst>
                <a:path h="4418584" w="2415413">
                  <a:moveTo>
                    <a:pt x="0" y="0"/>
                  </a:moveTo>
                  <a:lnTo>
                    <a:pt x="2415413" y="0"/>
                  </a:lnTo>
                  <a:lnTo>
                    <a:pt x="2415413" y="4418584"/>
                  </a:lnTo>
                  <a:lnTo>
                    <a:pt x="0" y="441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49" t="-9409" r="0" b="-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5674196" y="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01328" y="78904"/>
            <a:ext cx="13483087" cy="3239719"/>
            <a:chOff x="0" y="0"/>
            <a:chExt cx="17977450" cy="43196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77450" cy="4319625"/>
            </a:xfrm>
            <a:custGeom>
              <a:avLst/>
              <a:gdLst/>
              <a:ahLst/>
              <a:cxnLst/>
              <a:rect r="r" b="b" t="t" l="l"/>
              <a:pathLst>
                <a:path h="4319625" w="17977450">
                  <a:moveTo>
                    <a:pt x="0" y="0"/>
                  </a:moveTo>
                  <a:lnTo>
                    <a:pt x="17977450" y="0"/>
                  </a:lnTo>
                  <a:lnTo>
                    <a:pt x="17977450" y="4319625"/>
                  </a:lnTo>
                  <a:lnTo>
                    <a:pt x="0" y="4319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7977450" cy="416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56"/>
                </a:lnSpc>
              </a:pPr>
              <a:r>
                <a:rPr lang="en-US" sz="132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Scrapping</a:t>
              </a:r>
              <a:r>
                <a:rPr lang="en-US" sz="132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469173"/>
            <a:ext cx="15952398" cy="6369556"/>
            <a:chOff x="0" y="0"/>
            <a:chExt cx="21269864" cy="84927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69748" cy="8492645"/>
            </a:xfrm>
            <a:custGeom>
              <a:avLst/>
              <a:gdLst/>
              <a:ahLst/>
              <a:cxnLst/>
              <a:rect r="r" b="b" t="t" l="l"/>
              <a:pathLst>
                <a:path h="8492645" w="21269748">
                  <a:moveTo>
                    <a:pt x="0" y="0"/>
                  </a:moveTo>
                  <a:lnTo>
                    <a:pt x="21269748" y="0"/>
                  </a:lnTo>
                  <a:lnTo>
                    <a:pt x="21269748" y="8492645"/>
                  </a:lnTo>
                  <a:lnTo>
                    <a:pt x="0" y="8492645"/>
                  </a:lnTo>
                  <a:close/>
                </a:path>
              </a:pathLst>
            </a:custGeom>
            <a:solidFill>
              <a:srgbClr val="013AFB">
                <a:alpha val="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34194" y="3155714"/>
            <a:ext cx="3712341" cy="626918"/>
            <a:chOff x="0" y="0"/>
            <a:chExt cx="4949788" cy="835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49825" cy="835914"/>
            </a:xfrm>
            <a:custGeom>
              <a:avLst/>
              <a:gdLst/>
              <a:ahLst/>
              <a:cxnLst/>
              <a:rect r="r" b="b" t="t" l="l"/>
              <a:pathLst>
                <a:path h="835914" w="4949825">
                  <a:moveTo>
                    <a:pt x="4905121" y="835914"/>
                  </a:moveTo>
                  <a:lnTo>
                    <a:pt x="44704" y="835914"/>
                  </a:lnTo>
                  <a:cubicBezTo>
                    <a:pt x="20066" y="835914"/>
                    <a:pt x="0" y="819277"/>
                    <a:pt x="0" y="798957"/>
                  </a:cubicBezTo>
                  <a:lnTo>
                    <a:pt x="0" y="36957"/>
                  </a:lnTo>
                  <a:cubicBezTo>
                    <a:pt x="0" y="16637"/>
                    <a:pt x="20066" y="0"/>
                    <a:pt x="44704" y="0"/>
                  </a:cubicBezTo>
                  <a:lnTo>
                    <a:pt x="4905121" y="0"/>
                  </a:lnTo>
                  <a:cubicBezTo>
                    <a:pt x="4929759" y="0"/>
                    <a:pt x="4949825" y="16637"/>
                    <a:pt x="4949825" y="36957"/>
                  </a:cubicBezTo>
                  <a:lnTo>
                    <a:pt x="4949825" y="798957"/>
                  </a:lnTo>
                  <a:cubicBezTo>
                    <a:pt x="4949825" y="819277"/>
                    <a:pt x="4929759" y="835914"/>
                    <a:pt x="4905121" y="835914"/>
                  </a:cubicBezTo>
                  <a:close/>
                </a:path>
              </a:pathLst>
            </a:custGeom>
            <a:solidFill>
              <a:srgbClr val="013AF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213517" y="4606076"/>
            <a:ext cx="11966092" cy="36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u="sng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Autorisé :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Scrapper d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es données publiques access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ibles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sa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ns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auth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ntifi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tion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, visibles directement sur un site web (ex. horaires, titres, descriptions).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Respecter les conditions d’utilisation du site lorsqu’elles autorisent l’extraction à des fins non commerciales ou pédagogiques.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Scrapper à faible fréquence, sans surcharger le serveur (pas de spam de requêtes).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Ut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iliser les données à 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 fins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pédagogique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s, de démon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s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tration ou d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e rech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erche, sans 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redistribu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tion massive.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90833" y="3270998"/>
            <a:ext cx="3320746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1875" spc="93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Quels droits ?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59558" y="4475973"/>
            <a:ext cx="2311713" cy="2311713"/>
          </a:xfrm>
          <a:custGeom>
            <a:avLst/>
            <a:gdLst/>
            <a:ahLst/>
            <a:cxnLst/>
            <a:rect r="r" b="b" t="t" l="l"/>
            <a:pathLst>
              <a:path h="2311713" w="2311713">
                <a:moveTo>
                  <a:pt x="0" y="0"/>
                </a:moveTo>
                <a:lnTo>
                  <a:pt x="2311713" y="0"/>
                </a:lnTo>
                <a:lnTo>
                  <a:pt x="2311713" y="2311713"/>
                </a:lnTo>
                <a:lnTo>
                  <a:pt x="0" y="23117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11547" cy="3313972"/>
            <a:chOff x="0" y="0"/>
            <a:chExt cx="2415396" cy="44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413" cy="4418584"/>
            </a:xfrm>
            <a:custGeom>
              <a:avLst/>
              <a:gdLst/>
              <a:ahLst/>
              <a:cxnLst/>
              <a:rect r="r" b="b" t="t" l="l"/>
              <a:pathLst>
                <a:path h="4418584" w="2415413">
                  <a:moveTo>
                    <a:pt x="0" y="0"/>
                  </a:moveTo>
                  <a:lnTo>
                    <a:pt x="2415413" y="0"/>
                  </a:lnTo>
                  <a:lnTo>
                    <a:pt x="2415413" y="4418584"/>
                  </a:lnTo>
                  <a:lnTo>
                    <a:pt x="0" y="441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49" t="-9409" r="0" b="-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5674196" y="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01328" y="78904"/>
            <a:ext cx="13483087" cy="3239719"/>
            <a:chOff x="0" y="0"/>
            <a:chExt cx="17977450" cy="43196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77450" cy="4319625"/>
            </a:xfrm>
            <a:custGeom>
              <a:avLst/>
              <a:gdLst/>
              <a:ahLst/>
              <a:cxnLst/>
              <a:rect r="r" b="b" t="t" l="l"/>
              <a:pathLst>
                <a:path h="4319625" w="17977450">
                  <a:moveTo>
                    <a:pt x="0" y="0"/>
                  </a:moveTo>
                  <a:lnTo>
                    <a:pt x="17977450" y="0"/>
                  </a:lnTo>
                  <a:lnTo>
                    <a:pt x="17977450" y="4319625"/>
                  </a:lnTo>
                  <a:lnTo>
                    <a:pt x="0" y="4319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7977450" cy="416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56"/>
                </a:lnSpc>
              </a:pPr>
              <a:r>
                <a:rPr lang="en-US" sz="132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Scrapping</a:t>
              </a:r>
              <a:r>
                <a:rPr lang="en-US" sz="132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469173"/>
            <a:ext cx="15952398" cy="6369556"/>
            <a:chOff x="0" y="0"/>
            <a:chExt cx="21269864" cy="84927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69748" cy="8492645"/>
            </a:xfrm>
            <a:custGeom>
              <a:avLst/>
              <a:gdLst/>
              <a:ahLst/>
              <a:cxnLst/>
              <a:rect r="r" b="b" t="t" l="l"/>
              <a:pathLst>
                <a:path h="8492645" w="21269748">
                  <a:moveTo>
                    <a:pt x="0" y="0"/>
                  </a:moveTo>
                  <a:lnTo>
                    <a:pt x="21269748" y="0"/>
                  </a:lnTo>
                  <a:lnTo>
                    <a:pt x="21269748" y="8492645"/>
                  </a:lnTo>
                  <a:lnTo>
                    <a:pt x="0" y="8492645"/>
                  </a:lnTo>
                  <a:close/>
                </a:path>
              </a:pathLst>
            </a:custGeom>
            <a:solidFill>
              <a:srgbClr val="013AFB">
                <a:alpha val="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34194" y="3155714"/>
            <a:ext cx="3712341" cy="626918"/>
            <a:chOff x="0" y="0"/>
            <a:chExt cx="4949788" cy="835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49825" cy="835914"/>
            </a:xfrm>
            <a:custGeom>
              <a:avLst/>
              <a:gdLst/>
              <a:ahLst/>
              <a:cxnLst/>
              <a:rect r="r" b="b" t="t" l="l"/>
              <a:pathLst>
                <a:path h="835914" w="4949825">
                  <a:moveTo>
                    <a:pt x="4905121" y="835914"/>
                  </a:moveTo>
                  <a:lnTo>
                    <a:pt x="44704" y="835914"/>
                  </a:lnTo>
                  <a:cubicBezTo>
                    <a:pt x="20066" y="835914"/>
                    <a:pt x="0" y="819277"/>
                    <a:pt x="0" y="798957"/>
                  </a:cubicBezTo>
                  <a:lnTo>
                    <a:pt x="0" y="36957"/>
                  </a:lnTo>
                  <a:cubicBezTo>
                    <a:pt x="0" y="16637"/>
                    <a:pt x="20066" y="0"/>
                    <a:pt x="44704" y="0"/>
                  </a:cubicBezTo>
                  <a:lnTo>
                    <a:pt x="4905121" y="0"/>
                  </a:lnTo>
                  <a:cubicBezTo>
                    <a:pt x="4929759" y="0"/>
                    <a:pt x="4949825" y="16637"/>
                    <a:pt x="4949825" y="36957"/>
                  </a:cubicBezTo>
                  <a:lnTo>
                    <a:pt x="4949825" y="798957"/>
                  </a:lnTo>
                  <a:cubicBezTo>
                    <a:pt x="4949825" y="819277"/>
                    <a:pt x="4929759" y="835914"/>
                    <a:pt x="4905121" y="835914"/>
                  </a:cubicBezTo>
                  <a:close/>
                </a:path>
              </a:pathLst>
            </a:custGeom>
            <a:solidFill>
              <a:srgbClr val="013AF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213517" y="4606076"/>
            <a:ext cx="9860966" cy="409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u="sng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Interdit: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Scrapper d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es données der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ri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èr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u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n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e auth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ntifi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tion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, un paywall ou des protections techniques.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Contourner volontairement des mécanismes de sécurité (CAPTCHA, rate limiting, tokens, etc.).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Extraire des données personnelles (emails, numéros, informations sensibles).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Ignorer explicitement les int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erdictions mentionnées 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dans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le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s condition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s d’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utilisation ou l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e fichi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er 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robots.tx</a:t>
            </a:r>
            <a:r>
              <a:rPr lang="en-US" sz="2700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t.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90833" y="3270998"/>
            <a:ext cx="3320746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1875" spc="93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Quels droits ?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59558" y="4475973"/>
            <a:ext cx="2311713" cy="2311713"/>
          </a:xfrm>
          <a:custGeom>
            <a:avLst/>
            <a:gdLst/>
            <a:ahLst/>
            <a:cxnLst/>
            <a:rect r="r" b="b" t="t" l="l"/>
            <a:pathLst>
              <a:path h="2311713" w="2311713">
                <a:moveTo>
                  <a:pt x="0" y="0"/>
                </a:moveTo>
                <a:lnTo>
                  <a:pt x="2311713" y="0"/>
                </a:lnTo>
                <a:lnTo>
                  <a:pt x="2311713" y="2311713"/>
                </a:lnTo>
                <a:lnTo>
                  <a:pt x="0" y="23117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1306902" y="1306902"/>
            <a:ext cx="5227608" cy="2613804"/>
            <a:chOff x="0" y="0"/>
            <a:chExt cx="6970144" cy="3485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70141" cy="3485134"/>
            </a:xfrm>
            <a:custGeom>
              <a:avLst/>
              <a:gdLst/>
              <a:ahLst/>
              <a:cxnLst/>
              <a:rect r="r" b="b" t="t" l="l"/>
              <a:pathLst>
                <a:path h="3485134" w="6970141">
                  <a:moveTo>
                    <a:pt x="0" y="0"/>
                  </a:moveTo>
                  <a:lnTo>
                    <a:pt x="6970141" y="0"/>
                  </a:lnTo>
                  <a:lnTo>
                    <a:pt x="6970141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2613806" y="522761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5400000">
            <a:off x="14374155" y="5727124"/>
            <a:ext cx="3548923" cy="3545392"/>
            <a:chOff x="0" y="0"/>
            <a:chExt cx="4731898" cy="47271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31893" cy="4727194"/>
            </a:xfrm>
            <a:custGeom>
              <a:avLst/>
              <a:gdLst/>
              <a:ahLst/>
              <a:cxnLst/>
              <a:rect r="r" b="b" t="t" l="l"/>
              <a:pathLst>
                <a:path h="4727194" w="4731893">
                  <a:moveTo>
                    <a:pt x="0" y="0"/>
                  </a:moveTo>
                  <a:lnTo>
                    <a:pt x="4731893" y="0"/>
                  </a:lnTo>
                  <a:lnTo>
                    <a:pt x="4731893" y="4727194"/>
                  </a:lnTo>
                  <a:lnTo>
                    <a:pt x="0" y="472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118448" y="547686"/>
            <a:ext cx="14011961" cy="3285010"/>
            <a:chOff x="0" y="0"/>
            <a:chExt cx="18682614" cy="43800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82615" cy="4380014"/>
            </a:xfrm>
            <a:custGeom>
              <a:avLst/>
              <a:gdLst/>
              <a:ahLst/>
              <a:cxnLst/>
              <a:rect r="r" b="b" t="t" l="l"/>
              <a:pathLst>
                <a:path h="4380014" w="18682615">
                  <a:moveTo>
                    <a:pt x="0" y="0"/>
                  </a:moveTo>
                  <a:lnTo>
                    <a:pt x="18682615" y="0"/>
                  </a:lnTo>
                  <a:lnTo>
                    <a:pt x="18682615" y="4380014"/>
                  </a:lnTo>
                  <a:lnTo>
                    <a:pt x="0" y="43800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14300"/>
              <a:ext cx="18682614" cy="4265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692"/>
                </a:lnSpc>
              </a:pPr>
              <a:r>
                <a:rPr lang="en-US" sz="99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Documentation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50592" y="805338"/>
            <a:ext cx="1912620" cy="181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32"/>
              </a:lnSpc>
            </a:pPr>
            <a:r>
              <a:rPr lang="en-US" sz="12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11547" cy="3313972"/>
            <a:chOff x="0" y="0"/>
            <a:chExt cx="2415396" cy="44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413" cy="4418584"/>
            </a:xfrm>
            <a:custGeom>
              <a:avLst/>
              <a:gdLst/>
              <a:ahLst/>
              <a:cxnLst/>
              <a:rect r="r" b="b" t="t" l="l"/>
              <a:pathLst>
                <a:path h="4418584" w="2415413">
                  <a:moveTo>
                    <a:pt x="0" y="0"/>
                  </a:moveTo>
                  <a:lnTo>
                    <a:pt x="2415413" y="0"/>
                  </a:lnTo>
                  <a:lnTo>
                    <a:pt x="2415413" y="4418584"/>
                  </a:lnTo>
                  <a:lnTo>
                    <a:pt x="0" y="441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49" t="-9409" r="0" b="-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5674196" y="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70339" y="0"/>
            <a:ext cx="13860497" cy="3330403"/>
            <a:chOff x="0" y="0"/>
            <a:chExt cx="17977450" cy="43196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77450" cy="4319625"/>
            </a:xfrm>
            <a:custGeom>
              <a:avLst/>
              <a:gdLst/>
              <a:ahLst/>
              <a:cxnLst/>
              <a:rect r="r" b="b" t="t" l="l"/>
              <a:pathLst>
                <a:path h="4319625" w="17977450">
                  <a:moveTo>
                    <a:pt x="0" y="0"/>
                  </a:moveTo>
                  <a:lnTo>
                    <a:pt x="17977450" y="0"/>
                  </a:lnTo>
                  <a:lnTo>
                    <a:pt x="17977450" y="4319625"/>
                  </a:lnTo>
                  <a:lnTo>
                    <a:pt x="0" y="4319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7977450" cy="416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56"/>
                </a:lnSpc>
              </a:pPr>
              <a:r>
                <a:rPr lang="en-US" sz="132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Documentation</a:t>
              </a:r>
              <a:r>
                <a:rPr lang="en-US" sz="132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8817" y="3236180"/>
            <a:ext cx="3917442" cy="626918"/>
            <a:chOff x="0" y="0"/>
            <a:chExt cx="5223256" cy="8358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23293" cy="835914"/>
            </a:xfrm>
            <a:custGeom>
              <a:avLst/>
              <a:gdLst/>
              <a:ahLst/>
              <a:cxnLst/>
              <a:rect r="r" b="b" t="t" l="l"/>
              <a:pathLst>
                <a:path h="835914" w="5223293">
                  <a:moveTo>
                    <a:pt x="5176121" y="835914"/>
                  </a:moveTo>
                  <a:lnTo>
                    <a:pt x="47174" y="835914"/>
                  </a:lnTo>
                  <a:cubicBezTo>
                    <a:pt x="21175" y="835914"/>
                    <a:pt x="0" y="819277"/>
                    <a:pt x="0" y="798957"/>
                  </a:cubicBezTo>
                  <a:lnTo>
                    <a:pt x="0" y="36957"/>
                  </a:lnTo>
                  <a:cubicBezTo>
                    <a:pt x="0" y="16637"/>
                    <a:pt x="21175" y="0"/>
                    <a:pt x="47174" y="0"/>
                  </a:cubicBezTo>
                  <a:lnTo>
                    <a:pt x="5176121" y="0"/>
                  </a:lnTo>
                  <a:cubicBezTo>
                    <a:pt x="5202121" y="0"/>
                    <a:pt x="5223293" y="16637"/>
                    <a:pt x="5223293" y="36957"/>
                  </a:cubicBezTo>
                  <a:lnTo>
                    <a:pt x="5223293" y="798957"/>
                  </a:lnTo>
                  <a:cubicBezTo>
                    <a:pt x="5223293" y="819277"/>
                    <a:pt x="5202121" y="835914"/>
                    <a:pt x="5176121" y="835914"/>
                  </a:cubicBezTo>
                  <a:close/>
                </a:path>
              </a:pathLst>
            </a:custGeom>
            <a:solidFill>
              <a:srgbClr val="013AF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03063" y="3243786"/>
            <a:ext cx="3728948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b="true" sz="2700" spc="133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Quelles attentes ?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3593532"/>
            <a:ext cx="15952398" cy="5664768"/>
            <a:chOff x="0" y="0"/>
            <a:chExt cx="21269864" cy="75530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69863" cy="7552961"/>
            </a:xfrm>
            <a:custGeom>
              <a:avLst/>
              <a:gdLst/>
              <a:ahLst/>
              <a:cxnLst/>
              <a:rect r="r" b="b" t="t" l="l"/>
              <a:pathLst>
                <a:path h="7552961" w="21269863">
                  <a:moveTo>
                    <a:pt x="0" y="0"/>
                  </a:moveTo>
                  <a:lnTo>
                    <a:pt x="21269863" y="0"/>
                  </a:lnTo>
                  <a:lnTo>
                    <a:pt x="21269863" y="7552961"/>
                  </a:lnTo>
                  <a:lnTo>
                    <a:pt x="0" y="7552961"/>
                  </a:lnTo>
                  <a:close/>
                </a:path>
              </a:pathLst>
            </a:custGeom>
            <a:solidFill>
              <a:srgbClr val="013AFB">
                <a:alpha val="784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8817" y="4135788"/>
            <a:ext cx="6917880" cy="201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8" indent="-334644" lvl="1">
              <a:lnSpc>
                <a:spcPts val="4029"/>
              </a:lnSpc>
              <a:buAutoNum type="arabicPeriod" startAt="1"/>
            </a:pPr>
            <a:r>
              <a:rPr lang="en-US" b="true" sz="3099" spc="46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Présentation</a:t>
            </a: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générale du projet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contexte, objectif, perimètre fonctionnel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1-2 pages max.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8817" y="6871293"/>
            <a:ext cx="6917880" cy="201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 2. </a:t>
            </a:r>
            <a:r>
              <a:rPr lang="en-US" sz="3099" spc="46" b="true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Architecture</a:t>
            </a: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globale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Vue d’ensemble (schéma d’architecture, descriptions exhaustives), </a:t>
            </a: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Flux de données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34809" y="4135788"/>
            <a:ext cx="8046289" cy="201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3. </a:t>
            </a:r>
            <a:r>
              <a:rPr lang="en-US" sz="3099" spc="46" b="true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Frontend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Technologies utilisées, organisation du code, communication avec le backend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04899" y="6871293"/>
            <a:ext cx="8046289" cy="201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4.</a:t>
            </a:r>
            <a:r>
              <a:rPr lang="en-US" sz="3099" spc="46" b="true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Backend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Technologies et modèle utilisées, logique de l’agent, gestion du contexte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11547" cy="3313972"/>
            <a:chOff x="0" y="0"/>
            <a:chExt cx="2415396" cy="44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413" cy="4418584"/>
            </a:xfrm>
            <a:custGeom>
              <a:avLst/>
              <a:gdLst/>
              <a:ahLst/>
              <a:cxnLst/>
              <a:rect r="r" b="b" t="t" l="l"/>
              <a:pathLst>
                <a:path h="4418584" w="2415413">
                  <a:moveTo>
                    <a:pt x="0" y="0"/>
                  </a:moveTo>
                  <a:lnTo>
                    <a:pt x="2415413" y="0"/>
                  </a:lnTo>
                  <a:lnTo>
                    <a:pt x="2415413" y="4418584"/>
                  </a:lnTo>
                  <a:lnTo>
                    <a:pt x="0" y="441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49" t="-9409" r="0" b="-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5674196" y="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70339" y="0"/>
            <a:ext cx="13860497" cy="3330403"/>
            <a:chOff x="0" y="0"/>
            <a:chExt cx="17977450" cy="43196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77450" cy="4319625"/>
            </a:xfrm>
            <a:custGeom>
              <a:avLst/>
              <a:gdLst/>
              <a:ahLst/>
              <a:cxnLst/>
              <a:rect r="r" b="b" t="t" l="l"/>
              <a:pathLst>
                <a:path h="4319625" w="17977450">
                  <a:moveTo>
                    <a:pt x="0" y="0"/>
                  </a:moveTo>
                  <a:lnTo>
                    <a:pt x="17977450" y="0"/>
                  </a:lnTo>
                  <a:lnTo>
                    <a:pt x="17977450" y="4319625"/>
                  </a:lnTo>
                  <a:lnTo>
                    <a:pt x="0" y="4319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7977450" cy="416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56"/>
                </a:lnSpc>
              </a:pPr>
              <a:r>
                <a:rPr lang="en-US" sz="132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Documentation</a:t>
              </a:r>
              <a:r>
                <a:rPr lang="en-US" sz="132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8817" y="3236180"/>
            <a:ext cx="3917442" cy="626918"/>
            <a:chOff x="0" y="0"/>
            <a:chExt cx="5223256" cy="8358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23293" cy="835914"/>
            </a:xfrm>
            <a:custGeom>
              <a:avLst/>
              <a:gdLst/>
              <a:ahLst/>
              <a:cxnLst/>
              <a:rect r="r" b="b" t="t" l="l"/>
              <a:pathLst>
                <a:path h="835914" w="5223293">
                  <a:moveTo>
                    <a:pt x="5176121" y="835914"/>
                  </a:moveTo>
                  <a:lnTo>
                    <a:pt x="47174" y="835914"/>
                  </a:lnTo>
                  <a:cubicBezTo>
                    <a:pt x="21175" y="835914"/>
                    <a:pt x="0" y="819277"/>
                    <a:pt x="0" y="798957"/>
                  </a:cubicBezTo>
                  <a:lnTo>
                    <a:pt x="0" y="36957"/>
                  </a:lnTo>
                  <a:cubicBezTo>
                    <a:pt x="0" y="16637"/>
                    <a:pt x="21175" y="0"/>
                    <a:pt x="47174" y="0"/>
                  </a:cubicBezTo>
                  <a:lnTo>
                    <a:pt x="5176121" y="0"/>
                  </a:lnTo>
                  <a:cubicBezTo>
                    <a:pt x="5202121" y="0"/>
                    <a:pt x="5223293" y="16637"/>
                    <a:pt x="5223293" y="36957"/>
                  </a:cubicBezTo>
                  <a:lnTo>
                    <a:pt x="5223293" y="798957"/>
                  </a:lnTo>
                  <a:cubicBezTo>
                    <a:pt x="5223293" y="819277"/>
                    <a:pt x="5202121" y="835914"/>
                    <a:pt x="5176121" y="835914"/>
                  </a:cubicBezTo>
                  <a:close/>
                </a:path>
              </a:pathLst>
            </a:custGeom>
            <a:solidFill>
              <a:srgbClr val="013AF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03063" y="3243786"/>
            <a:ext cx="3728948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b="true" sz="2700" spc="133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Quelles attentes ?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3593532"/>
            <a:ext cx="15952398" cy="5664768"/>
            <a:chOff x="0" y="0"/>
            <a:chExt cx="21269864" cy="75530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69863" cy="7552961"/>
            </a:xfrm>
            <a:custGeom>
              <a:avLst/>
              <a:gdLst/>
              <a:ahLst/>
              <a:cxnLst/>
              <a:rect r="r" b="b" t="t" l="l"/>
              <a:pathLst>
                <a:path h="7552961" w="21269863">
                  <a:moveTo>
                    <a:pt x="0" y="0"/>
                  </a:moveTo>
                  <a:lnTo>
                    <a:pt x="21269863" y="0"/>
                  </a:lnTo>
                  <a:lnTo>
                    <a:pt x="21269863" y="7552961"/>
                  </a:lnTo>
                  <a:lnTo>
                    <a:pt x="0" y="7552961"/>
                  </a:lnTo>
                  <a:close/>
                </a:path>
              </a:pathLst>
            </a:custGeom>
            <a:solidFill>
              <a:srgbClr val="013AFB">
                <a:alpha val="784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8817" y="4135788"/>
            <a:ext cx="6917880" cy="151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5.</a:t>
            </a:r>
            <a:r>
              <a:rPr lang="en-US" sz="3099" spc="46" b="true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Serveur</a:t>
            </a: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MCP et Tooling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rôle, liste et détails des tools, descriptions détaillées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8817" y="6286696"/>
            <a:ext cx="6917880" cy="151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6. </a:t>
            </a:r>
            <a:r>
              <a:rPr lang="en-US" sz="3099" spc="46" b="true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Limites</a:t>
            </a: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du projet et ameliorations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Pensez à court et moyen terme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39642" y="5296731"/>
            <a:ext cx="8046289" cy="201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7. </a:t>
            </a:r>
            <a:r>
              <a:rPr lang="en-US" sz="3099" spc="46" b="true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Conclusion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Bilan rapide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Compétences acquises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 spc="46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Lien avec des concepts IA modernes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1306902" y="1306902"/>
            <a:ext cx="5227608" cy="2613804"/>
            <a:chOff x="0" y="0"/>
            <a:chExt cx="6970144" cy="3485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70141" cy="3485134"/>
            </a:xfrm>
            <a:custGeom>
              <a:avLst/>
              <a:gdLst/>
              <a:ahLst/>
              <a:cxnLst/>
              <a:rect r="r" b="b" t="t" l="l"/>
              <a:pathLst>
                <a:path h="3485134" w="6970141">
                  <a:moveTo>
                    <a:pt x="0" y="0"/>
                  </a:moveTo>
                  <a:lnTo>
                    <a:pt x="6970141" y="0"/>
                  </a:lnTo>
                  <a:lnTo>
                    <a:pt x="6970141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2613806" y="522761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5400000">
            <a:off x="14374155" y="5727124"/>
            <a:ext cx="3548923" cy="3545392"/>
            <a:chOff x="0" y="0"/>
            <a:chExt cx="4731898" cy="47271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31893" cy="4727194"/>
            </a:xfrm>
            <a:custGeom>
              <a:avLst/>
              <a:gdLst/>
              <a:ahLst/>
              <a:cxnLst/>
              <a:rect r="r" b="b" t="t" l="l"/>
              <a:pathLst>
                <a:path h="4727194" w="4731893">
                  <a:moveTo>
                    <a:pt x="0" y="0"/>
                  </a:moveTo>
                  <a:lnTo>
                    <a:pt x="4731893" y="0"/>
                  </a:lnTo>
                  <a:lnTo>
                    <a:pt x="4731893" y="4727194"/>
                  </a:lnTo>
                  <a:lnTo>
                    <a:pt x="0" y="472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118448" y="547686"/>
            <a:ext cx="14011961" cy="3285010"/>
            <a:chOff x="0" y="0"/>
            <a:chExt cx="18682614" cy="43800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82615" cy="4380014"/>
            </a:xfrm>
            <a:custGeom>
              <a:avLst/>
              <a:gdLst/>
              <a:ahLst/>
              <a:cxnLst/>
              <a:rect r="r" b="b" t="t" l="l"/>
              <a:pathLst>
                <a:path h="4380014" w="18682615">
                  <a:moveTo>
                    <a:pt x="0" y="0"/>
                  </a:moveTo>
                  <a:lnTo>
                    <a:pt x="18682615" y="0"/>
                  </a:lnTo>
                  <a:lnTo>
                    <a:pt x="18682615" y="4380014"/>
                  </a:lnTo>
                  <a:lnTo>
                    <a:pt x="0" y="43800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14300"/>
              <a:ext cx="18682614" cy="4265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692"/>
                </a:lnSpc>
              </a:pPr>
              <a:r>
                <a:rPr lang="en-US" sz="99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Modalités de rendu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50592" y="805338"/>
            <a:ext cx="1912620" cy="181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32"/>
              </a:lnSpc>
            </a:pPr>
            <a:r>
              <a:rPr lang="en-US" sz="12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11547" cy="3313972"/>
            <a:chOff x="0" y="0"/>
            <a:chExt cx="2415396" cy="44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413" cy="4418584"/>
            </a:xfrm>
            <a:custGeom>
              <a:avLst/>
              <a:gdLst/>
              <a:ahLst/>
              <a:cxnLst/>
              <a:rect r="r" b="b" t="t" l="l"/>
              <a:pathLst>
                <a:path h="4418584" w="2415413">
                  <a:moveTo>
                    <a:pt x="0" y="0"/>
                  </a:moveTo>
                  <a:lnTo>
                    <a:pt x="2415413" y="0"/>
                  </a:lnTo>
                  <a:lnTo>
                    <a:pt x="2415413" y="4418584"/>
                  </a:lnTo>
                  <a:lnTo>
                    <a:pt x="0" y="441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49" t="-9409" r="0" b="-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5674196" y="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70339" y="547688"/>
            <a:ext cx="13483087" cy="1988345"/>
            <a:chOff x="0" y="0"/>
            <a:chExt cx="17977450" cy="2651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77450" cy="2651126"/>
            </a:xfrm>
            <a:custGeom>
              <a:avLst/>
              <a:gdLst/>
              <a:ahLst/>
              <a:cxnLst/>
              <a:rect r="r" b="b" t="t" l="l"/>
              <a:pathLst>
                <a:path h="2651126" w="17977450">
                  <a:moveTo>
                    <a:pt x="0" y="0"/>
                  </a:moveTo>
                  <a:lnTo>
                    <a:pt x="17977450" y="0"/>
                  </a:lnTo>
                  <a:lnTo>
                    <a:pt x="1797745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7977450" cy="24987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56"/>
                </a:lnSpc>
              </a:pPr>
              <a:r>
                <a:rPr lang="en-US" sz="132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Les attendus</a:t>
              </a:r>
              <a:r>
                <a:rPr lang="en-US" sz="132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8817" y="3236180"/>
            <a:ext cx="3917442" cy="626918"/>
            <a:chOff x="0" y="0"/>
            <a:chExt cx="5223256" cy="8358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23293" cy="835914"/>
            </a:xfrm>
            <a:custGeom>
              <a:avLst/>
              <a:gdLst/>
              <a:ahLst/>
              <a:cxnLst/>
              <a:rect r="r" b="b" t="t" l="l"/>
              <a:pathLst>
                <a:path h="835914" w="5223293">
                  <a:moveTo>
                    <a:pt x="5176121" y="835914"/>
                  </a:moveTo>
                  <a:lnTo>
                    <a:pt x="47174" y="835914"/>
                  </a:lnTo>
                  <a:cubicBezTo>
                    <a:pt x="21175" y="835914"/>
                    <a:pt x="0" y="819277"/>
                    <a:pt x="0" y="798957"/>
                  </a:cubicBezTo>
                  <a:lnTo>
                    <a:pt x="0" y="36957"/>
                  </a:lnTo>
                  <a:cubicBezTo>
                    <a:pt x="0" y="16637"/>
                    <a:pt x="21175" y="0"/>
                    <a:pt x="47174" y="0"/>
                  </a:cubicBezTo>
                  <a:lnTo>
                    <a:pt x="5176121" y="0"/>
                  </a:lnTo>
                  <a:cubicBezTo>
                    <a:pt x="5202121" y="0"/>
                    <a:pt x="5223293" y="16637"/>
                    <a:pt x="5223293" y="36957"/>
                  </a:cubicBezTo>
                  <a:lnTo>
                    <a:pt x="5223293" y="798957"/>
                  </a:lnTo>
                  <a:cubicBezTo>
                    <a:pt x="5223293" y="819277"/>
                    <a:pt x="5202121" y="835914"/>
                    <a:pt x="5176121" y="835914"/>
                  </a:cubicBezTo>
                  <a:close/>
                </a:path>
              </a:pathLst>
            </a:custGeom>
            <a:solidFill>
              <a:srgbClr val="013AF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03063" y="3243786"/>
            <a:ext cx="3728948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b="true" sz="2700" spc="133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Objectif technique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3593532"/>
            <a:ext cx="15952398" cy="5664768"/>
            <a:chOff x="0" y="0"/>
            <a:chExt cx="21269864" cy="75530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69863" cy="7552961"/>
            </a:xfrm>
            <a:custGeom>
              <a:avLst/>
              <a:gdLst/>
              <a:ahLst/>
              <a:cxnLst/>
              <a:rect r="r" b="b" t="t" l="l"/>
              <a:pathLst>
                <a:path h="7552961" w="21269863">
                  <a:moveTo>
                    <a:pt x="0" y="0"/>
                  </a:moveTo>
                  <a:lnTo>
                    <a:pt x="21269863" y="0"/>
                  </a:lnTo>
                  <a:lnTo>
                    <a:pt x="21269863" y="7552961"/>
                  </a:lnTo>
                  <a:lnTo>
                    <a:pt x="0" y="7552961"/>
                  </a:lnTo>
                  <a:close/>
                </a:path>
              </a:pathLst>
            </a:custGeom>
            <a:solidFill>
              <a:srgbClr val="013AFB">
                <a:alpha val="78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70339" y="5080530"/>
            <a:ext cx="4101363" cy="2673711"/>
            <a:chOff x="0" y="0"/>
            <a:chExt cx="5468484" cy="35649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77373" y="0"/>
              <a:ext cx="3791111" cy="2934586"/>
            </a:xfrm>
            <a:custGeom>
              <a:avLst/>
              <a:gdLst/>
              <a:ahLst/>
              <a:cxnLst/>
              <a:rect r="r" b="b" t="t" l="l"/>
              <a:pathLst>
                <a:path h="2934586" w="3791111">
                  <a:moveTo>
                    <a:pt x="0" y="0"/>
                  </a:moveTo>
                  <a:lnTo>
                    <a:pt x="3791111" y="0"/>
                  </a:lnTo>
                  <a:lnTo>
                    <a:pt x="3791111" y="2934586"/>
                  </a:lnTo>
                  <a:lnTo>
                    <a:pt x="0" y="29345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true" flipV="false" rot="0">
              <a:off x="0" y="1467293"/>
              <a:ext cx="2709902" cy="2097655"/>
            </a:xfrm>
            <a:custGeom>
              <a:avLst/>
              <a:gdLst/>
              <a:ahLst/>
              <a:cxnLst/>
              <a:rect r="r" b="b" t="t" l="l"/>
              <a:pathLst>
                <a:path h="2097655" w="2709902">
                  <a:moveTo>
                    <a:pt x="2709902" y="0"/>
                  </a:moveTo>
                  <a:lnTo>
                    <a:pt x="0" y="0"/>
                  </a:lnTo>
                  <a:lnTo>
                    <a:pt x="0" y="2097655"/>
                  </a:lnTo>
                  <a:lnTo>
                    <a:pt x="2709902" y="2097655"/>
                  </a:lnTo>
                  <a:lnTo>
                    <a:pt x="2709902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3914096" y="5598905"/>
            <a:ext cx="1299821" cy="827011"/>
          </a:xfrm>
          <a:custGeom>
            <a:avLst/>
            <a:gdLst/>
            <a:ahLst/>
            <a:cxnLst/>
            <a:rect r="r" b="b" t="t" l="l"/>
            <a:pathLst>
              <a:path h="827011" w="1299821">
                <a:moveTo>
                  <a:pt x="0" y="0"/>
                </a:moveTo>
                <a:lnTo>
                  <a:pt x="1299821" y="0"/>
                </a:lnTo>
                <a:lnTo>
                  <a:pt x="1299821" y="827011"/>
                </a:lnTo>
                <a:lnTo>
                  <a:pt x="0" y="8270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884547" y="4127258"/>
            <a:ext cx="8046289" cy="454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46" b="true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Interface web permettant :</a:t>
            </a:r>
          </a:p>
          <a:p>
            <a:pPr algn="l" marL="669288" indent="-334644" lvl="1">
              <a:lnSpc>
                <a:spcPts val="4029"/>
              </a:lnSpc>
              <a:buFont typeface="Arial"/>
              <a:buChar char="•"/>
            </a:pPr>
            <a:r>
              <a:rPr lang="en-US" b="true" sz="3099" spc="46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 naviguer sur un site vitrine (thème libre mais cohérent), d’interagir avec un chatbot</a:t>
            </a:r>
            <a:r>
              <a:rPr lang="en-US" b="true" sz="3099" spc="46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via du langage naturel.</a:t>
            </a:r>
          </a:p>
          <a:p>
            <a:pPr algn="l">
              <a:lnSpc>
                <a:spcPts val="4029"/>
              </a:lnSpc>
            </a:pPr>
          </a:p>
          <a:p>
            <a:pPr algn="l">
              <a:lnSpc>
                <a:spcPts val="4029"/>
              </a:lnSpc>
            </a:pPr>
            <a:r>
              <a:rPr lang="en-US" sz="3099" spc="46" b="true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</a:t>
            </a:r>
            <a:r>
              <a:rPr lang="en-US" sz="3099" spc="46" b="true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ackend Python permettant :</a:t>
            </a:r>
          </a:p>
          <a:p>
            <a:pPr algn="l" marL="669288" indent="-334644" lvl="1">
              <a:lnSpc>
                <a:spcPts val="4029"/>
              </a:lnSpc>
              <a:buFont typeface="Arial"/>
              <a:buChar char="•"/>
            </a:pPr>
            <a:r>
              <a:rPr lang="en-US" b="true" sz="3099" spc="46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L’utilisation d’un modèle open-source local, la simulation d’un MCP, du scrapping de données.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60915" y="5551280"/>
            <a:ext cx="413848" cy="87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0"/>
              </a:lnSpc>
            </a:pPr>
            <a:r>
              <a:rPr lang="en-US" b="true" sz="5507" spc="82">
                <a:solidFill>
                  <a:srgbClr val="DF011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?</a:t>
            </a:r>
          </a:p>
        </p:txBody>
      </p:sp>
      <p:sp>
        <p:nvSpPr>
          <p:cNvPr name="Freeform 21" id="21"/>
          <p:cNvSpPr/>
          <p:nvPr/>
        </p:nvSpPr>
        <p:spPr>
          <a:xfrm flipH="true" flipV="false" rot="0">
            <a:off x="2360354" y="6417386"/>
            <a:ext cx="1299821" cy="827011"/>
          </a:xfrm>
          <a:custGeom>
            <a:avLst/>
            <a:gdLst/>
            <a:ahLst/>
            <a:cxnLst/>
            <a:rect r="r" b="b" t="t" l="l"/>
            <a:pathLst>
              <a:path h="827011" w="1299821">
                <a:moveTo>
                  <a:pt x="1299820" y="0"/>
                </a:moveTo>
                <a:lnTo>
                  <a:pt x="0" y="0"/>
                </a:lnTo>
                <a:lnTo>
                  <a:pt x="0" y="827011"/>
                </a:lnTo>
                <a:lnTo>
                  <a:pt x="1299820" y="827011"/>
                </a:lnTo>
                <a:lnTo>
                  <a:pt x="129982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707172" y="6369761"/>
            <a:ext cx="413848" cy="87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0"/>
              </a:lnSpc>
            </a:pPr>
            <a:r>
              <a:rPr lang="en-US" b="true" sz="5507" spc="82">
                <a:solidFill>
                  <a:srgbClr val="DF011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!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11547" cy="3313972"/>
            <a:chOff x="0" y="0"/>
            <a:chExt cx="2415396" cy="4418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413" cy="4418584"/>
            </a:xfrm>
            <a:custGeom>
              <a:avLst/>
              <a:gdLst/>
              <a:ahLst/>
              <a:cxnLst/>
              <a:rect r="r" b="b" t="t" l="l"/>
              <a:pathLst>
                <a:path h="4418584" w="2415413">
                  <a:moveTo>
                    <a:pt x="0" y="0"/>
                  </a:moveTo>
                  <a:lnTo>
                    <a:pt x="2415413" y="0"/>
                  </a:lnTo>
                  <a:lnTo>
                    <a:pt x="2415413" y="4418584"/>
                  </a:lnTo>
                  <a:lnTo>
                    <a:pt x="0" y="441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49" t="-9409" r="0" b="-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5674196" y="0"/>
            <a:ext cx="2613804" cy="2613804"/>
            <a:chOff x="0" y="0"/>
            <a:chExt cx="3485072" cy="348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5134" cy="3485134"/>
            </a:xfrm>
            <a:custGeom>
              <a:avLst/>
              <a:gdLst/>
              <a:ahLst/>
              <a:cxnLst/>
              <a:rect r="r" b="b" t="t" l="l"/>
              <a:pathLst>
                <a:path h="3485134" w="3485134">
                  <a:moveTo>
                    <a:pt x="0" y="0"/>
                  </a:moveTo>
                  <a:lnTo>
                    <a:pt x="3485134" y="0"/>
                  </a:lnTo>
                  <a:lnTo>
                    <a:pt x="3485134" y="3485134"/>
                  </a:lnTo>
                  <a:lnTo>
                    <a:pt x="0" y="3485134"/>
                  </a:lnTo>
                  <a:close/>
                </a:path>
              </a:pathLst>
            </a:custGeom>
            <a:solidFill>
              <a:srgbClr val="809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70339" y="547688"/>
            <a:ext cx="13483087" cy="1988345"/>
            <a:chOff x="0" y="0"/>
            <a:chExt cx="17977450" cy="2651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77450" cy="2651126"/>
            </a:xfrm>
            <a:custGeom>
              <a:avLst/>
              <a:gdLst/>
              <a:ahLst/>
              <a:cxnLst/>
              <a:rect r="r" b="b" t="t" l="l"/>
              <a:pathLst>
                <a:path h="2651126" w="17977450">
                  <a:moveTo>
                    <a:pt x="0" y="0"/>
                  </a:moveTo>
                  <a:lnTo>
                    <a:pt x="17977450" y="0"/>
                  </a:lnTo>
                  <a:lnTo>
                    <a:pt x="1797745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7977450" cy="24987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56"/>
                </a:lnSpc>
              </a:pPr>
              <a:r>
                <a:rPr lang="en-US" sz="13200">
                  <a:solidFill>
                    <a:srgbClr val="013AFB"/>
                  </a:solidFill>
                  <a:latin typeface="Anton"/>
                  <a:ea typeface="Anton"/>
                  <a:cs typeface="Anton"/>
                  <a:sym typeface="Anton"/>
                </a:rPr>
                <a:t>Les attendus</a:t>
              </a:r>
              <a:r>
                <a:rPr lang="en-US" sz="132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_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469173"/>
            <a:ext cx="15952398" cy="6369556"/>
            <a:chOff x="0" y="0"/>
            <a:chExt cx="21269864" cy="84927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69748" cy="8492645"/>
            </a:xfrm>
            <a:custGeom>
              <a:avLst/>
              <a:gdLst/>
              <a:ahLst/>
              <a:cxnLst/>
              <a:rect r="r" b="b" t="t" l="l"/>
              <a:pathLst>
                <a:path h="8492645" w="21269748">
                  <a:moveTo>
                    <a:pt x="0" y="0"/>
                  </a:moveTo>
                  <a:lnTo>
                    <a:pt x="21269748" y="0"/>
                  </a:lnTo>
                  <a:lnTo>
                    <a:pt x="21269748" y="8492645"/>
                  </a:lnTo>
                  <a:lnTo>
                    <a:pt x="0" y="8492645"/>
                  </a:lnTo>
                  <a:close/>
                </a:path>
              </a:pathLst>
            </a:custGeom>
            <a:solidFill>
              <a:srgbClr val="013AFB">
                <a:alpha val="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34194" y="3155714"/>
            <a:ext cx="3712341" cy="626918"/>
            <a:chOff x="0" y="0"/>
            <a:chExt cx="4949788" cy="835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49825" cy="835914"/>
            </a:xfrm>
            <a:custGeom>
              <a:avLst/>
              <a:gdLst/>
              <a:ahLst/>
              <a:cxnLst/>
              <a:rect r="r" b="b" t="t" l="l"/>
              <a:pathLst>
                <a:path h="835914" w="4949825">
                  <a:moveTo>
                    <a:pt x="4905121" y="835914"/>
                  </a:moveTo>
                  <a:lnTo>
                    <a:pt x="44704" y="835914"/>
                  </a:lnTo>
                  <a:cubicBezTo>
                    <a:pt x="20066" y="835914"/>
                    <a:pt x="0" y="819277"/>
                    <a:pt x="0" y="798957"/>
                  </a:cubicBezTo>
                  <a:lnTo>
                    <a:pt x="0" y="36957"/>
                  </a:lnTo>
                  <a:cubicBezTo>
                    <a:pt x="0" y="16637"/>
                    <a:pt x="20066" y="0"/>
                    <a:pt x="44704" y="0"/>
                  </a:cubicBezTo>
                  <a:lnTo>
                    <a:pt x="4905121" y="0"/>
                  </a:lnTo>
                  <a:cubicBezTo>
                    <a:pt x="4929759" y="0"/>
                    <a:pt x="4949825" y="16637"/>
                    <a:pt x="4949825" y="36957"/>
                  </a:cubicBezTo>
                  <a:lnTo>
                    <a:pt x="4949825" y="798957"/>
                  </a:lnTo>
                  <a:cubicBezTo>
                    <a:pt x="4949825" y="819277"/>
                    <a:pt x="4929759" y="835914"/>
                    <a:pt x="4905121" y="835914"/>
                  </a:cubicBezTo>
                  <a:close/>
                </a:path>
              </a:pathLst>
            </a:custGeom>
            <a:solidFill>
              <a:srgbClr val="013AF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090833" y="3270998"/>
            <a:ext cx="3320746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1875" spc="93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Contenu / Livrables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45213" y="4325557"/>
            <a:ext cx="7315201" cy="2457450"/>
            <a:chOff x="0" y="0"/>
            <a:chExt cx="9753601" cy="32766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1145398" y="0"/>
              <a:ext cx="8608203" cy="3276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Une documentation technique qui explique l’architecture globale du projet, la description du flux de données, une explication et justification de vos choix technologiques, le fonctionnement de votre MCP.</a:t>
              </a:r>
            </a:p>
          </p:txBody>
        </p:sp>
        <p:grpSp>
          <p:nvGrpSpPr>
            <p:cNvPr name="Group 16" id="16"/>
            <p:cNvGrpSpPr>
              <a:grpSpLocks noChangeAspect="true"/>
            </p:cNvGrpSpPr>
            <p:nvPr/>
          </p:nvGrpSpPr>
          <p:grpSpPr>
            <a:xfrm rot="0">
              <a:off x="0" y="907601"/>
              <a:ext cx="865998" cy="1461398"/>
              <a:chOff x="0" y="0"/>
              <a:chExt cx="865998" cy="146139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66013" cy="1461389"/>
              </a:xfrm>
              <a:custGeom>
                <a:avLst/>
                <a:gdLst/>
                <a:ahLst/>
                <a:cxnLst/>
                <a:rect r="r" b="b" t="t" l="l"/>
                <a:pathLst>
                  <a:path h="1461389" w="866013">
                    <a:moveTo>
                      <a:pt x="0" y="0"/>
                    </a:moveTo>
                    <a:lnTo>
                      <a:pt x="866013" y="0"/>
                    </a:lnTo>
                    <a:lnTo>
                      <a:pt x="866013" y="1461389"/>
                    </a:lnTo>
                    <a:lnTo>
                      <a:pt x="0" y="146138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1" b="-222"/>
                </a:stretch>
              </a:blipFill>
            </p:spPr>
          </p:sp>
        </p:grpSp>
      </p:grpSp>
      <p:grpSp>
        <p:nvGrpSpPr>
          <p:cNvPr name="Group 18" id="18"/>
          <p:cNvGrpSpPr/>
          <p:nvPr/>
        </p:nvGrpSpPr>
        <p:grpSpPr>
          <a:xfrm rot="0">
            <a:off x="1149385" y="4530344"/>
            <a:ext cx="7364443" cy="2047875"/>
            <a:chOff x="0" y="0"/>
            <a:chExt cx="9819257" cy="273050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1211054" y="0"/>
              <a:ext cx="8608203" cy="2730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Une application fonctionnelle réunissant : un site vitrine avec un chatbot intégré, des appels réels à un serveur MCP, un vrai scrapping de données (pas de mock data)</a:t>
              </a:r>
            </a:p>
          </p:txBody>
        </p:sp>
        <p:grpSp>
          <p:nvGrpSpPr>
            <p:cNvPr name="Group 20" id="20"/>
            <p:cNvGrpSpPr>
              <a:grpSpLocks noChangeAspect="true"/>
            </p:cNvGrpSpPr>
            <p:nvPr/>
          </p:nvGrpSpPr>
          <p:grpSpPr>
            <a:xfrm rot="0">
              <a:off x="0" y="634551"/>
              <a:ext cx="865998" cy="1461398"/>
              <a:chOff x="0" y="0"/>
              <a:chExt cx="865998" cy="146139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66013" cy="1461389"/>
              </a:xfrm>
              <a:custGeom>
                <a:avLst/>
                <a:gdLst/>
                <a:ahLst/>
                <a:cxnLst/>
                <a:rect r="r" b="b" t="t" l="l"/>
                <a:pathLst>
                  <a:path h="1461389" w="866013">
                    <a:moveTo>
                      <a:pt x="0" y="0"/>
                    </a:moveTo>
                    <a:lnTo>
                      <a:pt x="866013" y="0"/>
                    </a:lnTo>
                    <a:lnTo>
                      <a:pt x="866013" y="1461389"/>
                    </a:lnTo>
                    <a:lnTo>
                      <a:pt x="0" y="146138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1" b="-222"/>
                </a:stretch>
              </a:blipFill>
            </p:spPr>
          </p:sp>
        </p:grpSp>
      </p:grp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129661" y="7104660"/>
            <a:ext cx="7364443" cy="2047875"/>
            <a:chOff x="0" y="0"/>
            <a:chExt cx="9819257" cy="273050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1211054" y="0"/>
              <a:ext cx="8608203" cy="2730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13A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20 minutes de soutenance pour défendre le projet, avec une démonstration, une explication technique claire, et une analyse critique. Tous les membres du groupe doivent parler.</a:t>
              </a:r>
            </a:p>
          </p:txBody>
        </p:sp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0" y="634551"/>
              <a:ext cx="865998" cy="1461398"/>
              <a:chOff x="0" y="0"/>
              <a:chExt cx="865998" cy="146139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66013" cy="1461389"/>
              </a:xfrm>
              <a:custGeom>
                <a:avLst/>
                <a:gdLst/>
                <a:ahLst/>
                <a:cxnLst/>
                <a:rect r="r" b="b" t="t" l="l"/>
                <a:pathLst>
                  <a:path h="1461389" w="866013">
                    <a:moveTo>
                      <a:pt x="0" y="0"/>
                    </a:moveTo>
                    <a:lnTo>
                      <a:pt x="866013" y="0"/>
                    </a:lnTo>
                    <a:lnTo>
                      <a:pt x="866013" y="1461389"/>
                    </a:lnTo>
                    <a:lnTo>
                      <a:pt x="0" y="146138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1" b="-222"/>
                </a:stretch>
              </a:blipFill>
            </p:spPr>
          </p:sp>
        </p:grp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852694" y="-19050"/>
            <a:ext cx="6435306" cy="8493712"/>
            <a:chOff x="0" y="0"/>
            <a:chExt cx="8580408" cy="11324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80374" cy="11324971"/>
            </a:xfrm>
            <a:custGeom>
              <a:avLst/>
              <a:gdLst/>
              <a:ahLst/>
              <a:cxnLst/>
              <a:rect r="r" b="b" t="t" l="l"/>
              <a:pathLst>
                <a:path h="11324971" w="8580374">
                  <a:moveTo>
                    <a:pt x="0" y="0"/>
                  </a:moveTo>
                  <a:lnTo>
                    <a:pt x="8580374" y="0"/>
                  </a:lnTo>
                  <a:lnTo>
                    <a:pt x="8580374" y="11324971"/>
                  </a:lnTo>
                  <a:lnTo>
                    <a:pt x="0" y="11324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5620" y="534748"/>
            <a:ext cx="10931824" cy="1988344"/>
            <a:chOff x="0" y="0"/>
            <a:chExt cx="14575766" cy="2651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75766" cy="2651126"/>
            </a:xfrm>
            <a:custGeom>
              <a:avLst/>
              <a:gdLst/>
              <a:ahLst/>
              <a:cxnLst/>
              <a:rect r="r" b="b" t="t" l="l"/>
              <a:pathLst>
                <a:path h="2651126" w="14575766">
                  <a:moveTo>
                    <a:pt x="0" y="0"/>
                  </a:moveTo>
                  <a:lnTo>
                    <a:pt x="14575766" y="0"/>
                  </a:lnTo>
                  <a:lnTo>
                    <a:pt x="14575766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42875"/>
              <a:ext cx="14575766" cy="25082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32"/>
                </a:lnSpc>
              </a:pPr>
              <a:r>
                <a:rPr lang="en-US" sz="12900">
                  <a:solidFill>
                    <a:srgbClr val="00FF97"/>
                  </a:solidFill>
                  <a:latin typeface="Anton"/>
                  <a:ea typeface="Anton"/>
                  <a:cs typeface="Anton"/>
                  <a:sym typeface="Anton"/>
                </a:rPr>
                <a:t>Questions ?_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37061" y="4651058"/>
            <a:ext cx="10749125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 C’est à vous ! /&gt;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DAG9vIIh1TA</dc:identifier>
  <dcterms:modified xsi:type="dcterms:W3CDTF">2011-08-01T06:04:30Z</dcterms:modified>
  <cp:revision>1</cp:revision>
  <dc:title>IA bot Kick-off</dc:title>
</cp:coreProperties>
</file>